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50"/>
  </p:notesMasterIdLst>
  <p:handoutMasterIdLst>
    <p:handoutMasterId r:id="rId51"/>
  </p:handoutMasterIdLst>
  <p:sldIdLst>
    <p:sldId id="334" r:id="rId5"/>
    <p:sldId id="356" r:id="rId6"/>
    <p:sldId id="357" r:id="rId7"/>
    <p:sldId id="358" r:id="rId8"/>
    <p:sldId id="359" r:id="rId9"/>
    <p:sldId id="360" r:id="rId10"/>
    <p:sldId id="361" r:id="rId11"/>
    <p:sldId id="362" r:id="rId12"/>
    <p:sldId id="363" r:id="rId13"/>
    <p:sldId id="366" r:id="rId14"/>
    <p:sldId id="364" r:id="rId15"/>
    <p:sldId id="365" r:id="rId16"/>
    <p:sldId id="367" r:id="rId17"/>
    <p:sldId id="368" r:id="rId18"/>
    <p:sldId id="369" r:id="rId19"/>
    <p:sldId id="370" r:id="rId20"/>
    <p:sldId id="371" r:id="rId21"/>
    <p:sldId id="374" r:id="rId22"/>
    <p:sldId id="372" r:id="rId23"/>
    <p:sldId id="373" r:id="rId24"/>
    <p:sldId id="375" r:id="rId25"/>
    <p:sldId id="376" r:id="rId26"/>
    <p:sldId id="377" r:id="rId27"/>
    <p:sldId id="378" r:id="rId28"/>
    <p:sldId id="382" r:id="rId29"/>
    <p:sldId id="380" r:id="rId30"/>
    <p:sldId id="381" r:id="rId31"/>
    <p:sldId id="383" r:id="rId32"/>
    <p:sldId id="384" r:id="rId33"/>
    <p:sldId id="385" r:id="rId34"/>
    <p:sldId id="386" r:id="rId35"/>
    <p:sldId id="387" r:id="rId36"/>
    <p:sldId id="388" r:id="rId37"/>
    <p:sldId id="389" r:id="rId38"/>
    <p:sldId id="390" r:id="rId39"/>
    <p:sldId id="391" r:id="rId40"/>
    <p:sldId id="392" r:id="rId41"/>
    <p:sldId id="393" r:id="rId42"/>
    <p:sldId id="394" r:id="rId43"/>
    <p:sldId id="397" r:id="rId44"/>
    <p:sldId id="398" r:id="rId45"/>
    <p:sldId id="399" r:id="rId46"/>
    <p:sldId id="400" r:id="rId47"/>
    <p:sldId id="401" r:id="rId48"/>
    <p:sldId id="349"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8" autoAdjust="0"/>
    <p:restoredTop sz="84967" autoAdjust="0"/>
  </p:normalViewPr>
  <p:slideViewPr>
    <p:cSldViewPr snapToGrid="0">
      <p:cViewPr varScale="1">
        <p:scale>
          <a:sx n="82" d="100"/>
          <a:sy n="82" d="100"/>
        </p:scale>
        <p:origin x="629" y="72"/>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8/10/relationships/authors" Target="authors.xml"/><Relationship Id="rId8" Type="http://schemas.openxmlformats.org/officeDocument/2006/relationships/slide" Target="slides/slide4.xml"/><Relationship Id="rId51" Type="http://schemas.openxmlformats.org/officeDocument/2006/relationships/handoutMaster" Target="handoutMasters/handout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6/9/2024</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6/9/2024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2802277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28022773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28022773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5</a:t>
            </a:fld>
            <a:endParaRPr lang="en-US" dirty="0"/>
          </a:p>
        </p:txBody>
      </p:sp>
    </p:spTree>
    <p:extLst>
      <p:ext uri="{BB962C8B-B14F-4D97-AF65-F5344CB8AC3E}">
        <p14:creationId xmlns:p14="http://schemas.microsoft.com/office/powerpoint/2010/main" val="28022773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6</a:t>
            </a:fld>
            <a:endParaRPr lang="en-US" dirty="0"/>
          </a:p>
        </p:txBody>
      </p:sp>
    </p:spTree>
    <p:extLst>
      <p:ext uri="{BB962C8B-B14F-4D97-AF65-F5344CB8AC3E}">
        <p14:creationId xmlns:p14="http://schemas.microsoft.com/office/powerpoint/2010/main" val="8033017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7</a:t>
            </a:fld>
            <a:endParaRPr lang="en-US" dirty="0"/>
          </a:p>
        </p:txBody>
      </p:sp>
    </p:spTree>
    <p:extLst>
      <p:ext uri="{BB962C8B-B14F-4D97-AF65-F5344CB8AC3E}">
        <p14:creationId xmlns:p14="http://schemas.microsoft.com/office/powerpoint/2010/main" val="1058659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8</a:t>
            </a:fld>
            <a:endParaRPr lang="en-US" dirty="0"/>
          </a:p>
        </p:txBody>
      </p:sp>
    </p:spTree>
    <p:extLst>
      <p:ext uri="{BB962C8B-B14F-4D97-AF65-F5344CB8AC3E}">
        <p14:creationId xmlns:p14="http://schemas.microsoft.com/office/powerpoint/2010/main" val="2156609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9</a:t>
            </a:fld>
            <a:endParaRPr lang="en-US" dirty="0"/>
          </a:p>
        </p:txBody>
      </p:sp>
    </p:spTree>
    <p:extLst>
      <p:ext uri="{BB962C8B-B14F-4D97-AF65-F5344CB8AC3E}">
        <p14:creationId xmlns:p14="http://schemas.microsoft.com/office/powerpoint/2010/main" val="28202385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10</a:t>
            </a:fld>
            <a:endParaRPr lang="en-US" dirty="0"/>
          </a:p>
        </p:txBody>
      </p:sp>
    </p:spTree>
    <p:extLst>
      <p:ext uri="{BB962C8B-B14F-4D97-AF65-F5344CB8AC3E}">
        <p14:creationId xmlns:p14="http://schemas.microsoft.com/office/powerpoint/2010/main" val="17492929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11</a:t>
            </a:fld>
            <a:endParaRPr lang="en-US" dirty="0"/>
          </a:p>
        </p:txBody>
      </p:sp>
    </p:spTree>
    <p:extLst>
      <p:ext uri="{BB962C8B-B14F-4D97-AF65-F5344CB8AC3E}">
        <p14:creationId xmlns:p14="http://schemas.microsoft.com/office/powerpoint/2010/main" val="31838284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12</a:t>
            </a:fld>
            <a:endParaRPr lang="en-US" dirty="0"/>
          </a:p>
        </p:txBody>
      </p:sp>
    </p:spTree>
    <p:extLst>
      <p:ext uri="{BB962C8B-B14F-4D97-AF65-F5344CB8AC3E}">
        <p14:creationId xmlns:p14="http://schemas.microsoft.com/office/powerpoint/2010/main" val="35372830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13</a:t>
            </a:fld>
            <a:endParaRPr lang="en-US" dirty="0"/>
          </a:p>
        </p:txBody>
      </p:sp>
    </p:spTree>
    <p:extLst>
      <p:ext uri="{BB962C8B-B14F-4D97-AF65-F5344CB8AC3E}">
        <p14:creationId xmlns:p14="http://schemas.microsoft.com/office/powerpoint/2010/main" val="4024730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14</a:t>
            </a:fld>
            <a:endParaRPr lang="en-US" dirty="0"/>
          </a:p>
        </p:txBody>
      </p:sp>
    </p:spTree>
    <p:extLst>
      <p:ext uri="{BB962C8B-B14F-4D97-AF65-F5344CB8AC3E}">
        <p14:creationId xmlns:p14="http://schemas.microsoft.com/office/powerpoint/2010/main" val="8540606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15</a:t>
            </a:fld>
            <a:endParaRPr lang="en-US" dirty="0"/>
          </a:p>
        </p:txBody>
      </p:sp>
    </p:spTree>
    <p:extLst>
      <p:ext uri="{BB962C8B-B14F-4D97-AF65-F5344CB8AC3E}">
        <p14:creationId xmlns:p14="http://schemas.microsoft.com/office/powerpoint/2010/main" val="34330130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16</a:t>
            </a:fld>
            <a:endParaRPr lang="en-US" dirty="0"/>
          </a:p>
        </p:txBody>
      </p:sp>
    </p:spTree>
    <p:extLst>
      <p:ext uri="{BB962C8B-B14F-4D97-AF65-F5344CB8AC3E}">
        <p14:creationId xmlns:p14="http://schemas.microsoft.com/office/powerpoint/2010/main" val="4007006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17</a:t>
            </a:fld>
            <a:endParaRPr lang="en-US" dirty="0"/>
          </a:p>
        </p:txBody>
      </p:sp>
    </p:spTree>
    <p:extLst>
      <p:ext uri="{BB962C8B-B14F-4D97-AF65-F5344CB8AC3E}">
        <p14:creationId xmlns:p14="http://schemas.microsoft.com/office/powerpoint/2010/main" val="42692123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18</a:t>
            </a:fld>
            <a:endParaRPr lang="en-US" dirty="0"/>
          </a:p>
        </p:txBody>
      </p:sp>
    </p:spTree>
    <p:extLst>
      <p:ext uri="{BB962C8B-B14F-4D97-AF65-F5344CB8AC3E}">
        <p14:creationId xmlns:p14="http://schemas.microsoft.com/office/powerpoint/2010/main" val="35582981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19</a:t>
            </a:fld>
            <a:endParaRPr lang="en-US" dirty="0"/>
          </a:p>
        </p:txBody>
      </p:sp>
    </p:spTree>
    <p:extLst>
      <p:ext uri="{BB962C8B-B14F-4D97-AF65-F5344CB8AC3E}">
        <p14:creationId xmlns:p14="http://schemas.microsoft.com/office/powerpoint/2010/main" val="22281855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20</a:t>
            </a:fld>
            <a:endParaRPr lang="en-US" dirty="0"/>
          </a:p>
        </p:txBody>
      </p:sp>
    </p:spTree>
    <p:extLst>
      <p:ext uri="{BB962C8B-B14F-4D97-AF65-F5344CB8AC3E}">
        <p14:creationId xmlns:p14="http://schemas.microsoft.com/office/powerpoint/2010/main" val="560961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21</a:t>
            </a:fld>
            <a:endParaRPr lang="en-US" dirty="0"/>
          </a:p>
        </p:txBody>
      </p:sp>
    </p:spTree>
    <p:extLst>
      <p:ext uri="{BB962C8B-B14F-4D97-AF65-F5344CB8AC3E}">
        <p14:creationId xmlns:p14="http://schemas.microsoft.com/office/powerpoint/2010/main" val="34490027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22</a:t>
            </a:fld>
            <a:endParaRPr lang="en-US" dirty="0"/>
          </a:p>
        </p:txBody>
      </p:sp>
    </p:spTree>
    <p:extLst>
      <p:ext uri="{BB962C8B-B14F-4D97-AF65-F5344CB8AC3E}">
        <p14:creationId xmlns:p14="http://schemas.microsoft.com/office/powerpoint/2010/main" val="24511845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23</a:t>
            </a:fld>
            <a:endParaRPr lang="en-US" dirty="0"/>
          </a:p>
        </p:txBody>
      </p:sp>
    </p:spTree>
    <p:extLst>
      <p:ext uri="{BB962C8B-B14F-4D97-AF65-F5344CB8AC3E}">
        <p14:creationId xmlns:p14="http://schemas.microsoft.com/office/powerpoint/2010/main" val="5397209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24</a:t>
            </a:fld>
            <a:endParaRPr lang="en-US" dirty="0"/>
          </a:p>
        </p:txBody>
      </p:sp>
    </p:spTree>
    <p:extLst>
      <p:ext uri="{BB962C8B-B14F-4D97-AF65-F5344CB8AC3E}">
        <p14:creationId xmlns:p14="http://schemas.microsoft.com/office/powerpoint/2010/main" val="14047713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25</a:t>
            </a:fld>
            <a:endParaRPr lang="en-US" dirty="0"/>
          </a:p>
        </p:txBody>
      </p:sp>
    </p:spTree>
    <p:extLst>
      <p:ext uri="{BB962C8B-B14F-4D97-AF65-F5344CB8AC3E}">
        <p14:creationId xmlns:p14="http://schemas.microsoft.com/office/powerpoint/2010/main" val="15706238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26</a:t>
            </a:fld>
            <a:endParaRPr lang="en-US" dirty="0"/>
          </a:p>
        </p:txBody>
      </p:sp>
    </p:spTree>
    <p:extLst>
      <p:ext uri="{BB962C8B-B14F-4D97-AF65-F5344CB8AC3E}">
        <p14:creationId xmlns:p14="http://schemas.microsoft.com/office/powerpoint/2010/main" val="19229798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27</a:t>
            </a:fld>
            <a:endParaRPr lang="en-US" dirty="0"/>
          </a:p>
        </p:txBody>
      </p:sp>
    </p:spTree>
    <p:extLst>
      <p:ext uri="{BB962C8B-B14F-4D97-AF65-F5344CB8AC3E}">
        <p14:creationId xmlns:p14="http://schemas.microsoft.com/office/powerpoint/2010/main" val="40439685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28</a:t>
            </a:fld>
            <a:endParaRPr lang="en-US" dirty="0"/>
          </a:p>
        </p:txBody>
      </p:sp>
    </p:spTree>
    <p:extLst>
      <p:ext uri="{BB962C8B-B14F-4D97-AF65-F5344CB8AC3E}">
        <p14:creationId xmlns:p14="http://schemas.microsoft.com/office/powerpoint/2010/main" val="7551801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29</a:t>
            </a:fld>
            <a:endParaRPr lang="en-US" dirty="0"/>
          </a:p>
        </p:txBody>
      </p:sp>
    </p:spTree>
    <p:extLst>
      <p:ext uri="{BB962C8B-B14F-4D97-AF65-F5344CB8AC3E}">
        <p14:creationId xmlns:p14="http://schemas.microsoft.com/office/powerpoint/2010/main" val="27861156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30</a:t>
            </a:fld>
            <a:endParaRPr lang="en-US" dirty="0"/>
          </a:p>
        </p:txBody>
      </p:sp>
    </p:spTree>
    <p:extLst>
      <p:ext uri="{BB962C8B-B14F-4D97-AF65-F5344CB8AC3E}">
        <p14:creationId xmlns:p14="http://schemas.microsoft.com/office/powerpoint/2010/main" val="1202565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31</a:t>
            </a:fld>
            <a:endParaRPr lang="en-US" dirty="0"/>
          </a:p>
        </p:txBody>
      </p:sp>
    </p:spTree>
    <p:extLst>
      <p:ext uri="{BB962C8B-B14F-4D97-AF65-F5344CB8AC3E}">
        <p14:creationId xmlns:p14="http://schemas.microsoft.com/office/powerpoint/2010/main" val="31640112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32</a:t>
            </a:fld>
            <a:endParaRPr lang="en-US" dirty="0"/>
          </a:p>
        </p:txBody>
      </p:sp>
    </p:spTree>
    <p:extLst>
      <p:ext uri="{BB962C8B-B14F-4D97-AF65-F5344CB8AC3E}">
        <p14:creationId xmlns:p14="http://schemas.microsoft.com/office/powerpoint/2010/main" val="105357365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33</a:t>
            </a:fld>
            <a:endParaRPr lang="en-US" dirty="0"/>
          </a:p>
        </p:txBody>
      </p:sp>
    </p:spTree>
    <p:extLst>
      <p:ext uri="{BB962C8B-B14F-4D97-AF65-F5344CB8AC3E}">
        <p14:creationId xmlns:p14="http://schemas.microsoft.com/office/powerpoint/2010/main" val="48458398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34</a:t>
            </a:fld>
            <a:endParaRPr lang="en-US" dirty="0"/>
          </a:p>
        </p:txBody>
      </p:sp>
    </p:spTree>
    <p:extLst>
      <p:ext uri="{BB962C8B-B14F-4D97-AF65-F5344CB8AC3E}">
        <p14:creationId xmlns:p14="http://schemas.microsoft.com/office/powerpoint/2010/main" val="14798022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35</a:t>
            </a:fld>
            <a:endParaRPr lang="en-US" dirty="0"/>
          </a:p>
        </p:txBody>
      </p:sp>
    </p:spTree>
    <p:extLst>
      <p:ext uri="{BB962C8B-B14F-4D97-AF65-F5344CB8AC3E}">
        <p14:creationId xmlns:p14="http://schemas.microsoft.com/office/powerpoint/2010/main" val="38893840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36</a:t>
            </a:fld>
            <a:endParaRPr lang="en-US" dirty="0"/>
          </a:p>
        </p:txBody>
      </p:sp>
    </p:spTree>
    <p:extLst>
      <p:ext uri="{BB962C8B-B14F-4D97-AF65-F5344CB8AC3E}">
        <p14:creationId xmlns:p14="http://schemas.microsoft.com/office/powerpoint/2010/main" val="373832156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37</a:t>
            </a:fld>
            <a:endParaRPr lang="en-US" dirty="0"/>
          </a:p>
        </p:txBody>
      </p:sp>
    </p:spTree>
    <p:extLst>
      <p:ext uri="{BB962C8B-B14F-4D97-AF65-F5344CB8AC3E}">
        <p14:creationId xmlns:p14="http://schemas.microsoft.com/office/powerpoint/2010/main" val="19050881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38</a:t>
            </a:fld>
            <a:endParaRPr lang="en-US" dirty="0"/>
          </a:p>
        </p:txBody>
      </p:sp>
    </p:spTree>
    <p:extLst>
      <p:ext uri="{BB962C8B-B14F-4D97-AF65-F5344CB8AC3E}">
        <p14:creationId xmlns:p14="http://schemas.microsoft.com/office/powerpoint/2010/main" val="277965012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39</a:t>
            </a:fld>
            <a:endParaRPr lang="en-US" dirty="0"/>
          </a:p>
        </p:txBody>
      </p:sp>
    </p:spTree>
    <p:extLst>
      <p:ext uri="{BB962C8B-B14F-4D97-AF65-F5344CB8AC3E}">
        <p14:creationId xmlns:p14="http://schemas.microsoft.com/office/powerpoint/2010/main" val="326433611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40</a:t>
            </a:fld>
            <a:endParaRPr lang="en-US" dirty="0"/>
          </a:p>
        </p:txBody>
      </p:sp>
    </p:spTree>
    <p:extLst>
      <p:ext uri="{BB962C8B-B14F-4D97-AF65-F5344CB8AC3E}">
        <p14:creationId xmlns:p14="http://schemas.microsoft.com/office/powerpoint/2010/main" val="30324804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41</a:t>
            </a:fld>
            <a:endParaRPr lang="en-US" dirty="0"/>
          </a:p>
        </p:txBody>
      </p:sp>
    </p:spTree>
    <p:extLst>
      <p:ext uri="{BB962C8B-B14F-4D97-AF65-F5344CB8AC3E}">
        <p14:creationId xmlns:p14="http://schemas.microsoft.com/office/powerpoint/2010/main" val="24339615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42</a:t>
            </a:fld>
            <a:endParaRPr lang="en-US" dirty="0"/>
          </a:p>
        </p:txBody>
      </p:sp>
    </p:spTree>
    <p:extLst>
      <p:ext uri="{BB962C8B-B14F-4D97-AF65-F5344CB8AC3E}">
        <p14:creationId xmlns:p14="http://schemas.microsoft.com/office/powerpoint/2010/main" val="8495908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43</a:t>
            </a:fld>
            <a:endParaRPr lang="en-US" dirty="0"/>
          </a:p>
        </p:txBody>
      </p:sp>
    </p:spTree>
    <p:extLst>
      <p:ext uri="{BB962C8B-B14F-4D97-AF65-F5344CB8AC3E}">
        <p14:creationId xmlns:p14="http://schemas.microsoft.com/office/powerpoint/2010/main" val="22568752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44</a:t>
            </a:fld>
            <a:endParaRPr lang="en-US" dirty="0"/>
          </a:p>
        </p:txBody>
      </p:sp>
    </p:spTree>
    <p:extLst>
      <p:ext uri="{BB962C8B-B14F-4D97-AF65-F5344CB8AC3E}">
        <p14:creationId xmlns:p14="http://schemas.microsoft.com/office/powerpoint/2010/main" val="19640759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45</a:t>
            </a:fld>
            <a:endParaRPr lang="en-US" dirty="0"/>
          </a:p>
        </p:txBody>
      </p:sp>
    </p:spTree>
    <p:extLst>
      <p:ext uri="{BB962C8B-B14F-4D97-AF65-F5344CB8AC3E}">
        <p14:creationId xmlns:p14="http://schemas.microsoft.com/office/powerpoint/2010/main" val="36133641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hyperlink" Target="https://www.geeksforgeeks.org/equals-hashcode-methods-java/" TargetMode="External"/><Relationship Id="rId3" Type="http://schemas.openxmlformats.org/officeDocument/2006/relationships/hyperlink" Target="https://www.geeksforgeeks.org/collection-add-method-in-java-with-examples/" TargetMode="External"/><Relationship Id="rId7" Type="http://schemas.openxmlformats.org/officeDocument/2006/relationships/hyperlink" Target="https://www.geeksforgeeks.org/java-collection-containsall-method/" TargetMode="External"/><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hyperlink" Target="https://www.geeksforgeeks.org/collection-contains-method-in-java-with-examples/" TargetMode="External"/><Relationship Id="rId5" Type="http://schemas.openxmlformats.org/officeDocument/2006/relationships/hyperlink" Target="https://www.geeksforgeeks.org/collection-clear-method-in-java-with-examples/" TargetMode="External"/><Relationship Id="rId4" Type="http://schemas.openxmlformats.org/officeDocument/2006/relationships/hyperlink" Target="https://www.geeksforgeeks.org/collections-addall-method-in-java-with-examples/" TargetMode="External"/></Relationships>
</file>

<file path=ppt/slides/_rels/slide12.xml.rels><?xml version="1.0" encoding="UTF-8" standalone="yes"?>
<Relationships xmlns="http://schemas.openxmlformats.org/package/2006/relationships"><Relationship Id="rId8" Type="http://schemas.openxmlformats.org/officeDocument/2006/relationships/hyperlink" Target="https://www.geeksforgeeks.org/java-collection-removeall-method/" TargetMode="External"/><Relationship Id="rId3" Type="http://schemas.openxmlformats.org/officeDocument/2006/relationships/hyperlink" Target="https://www.geeksforgeeks.org/collection-isempty-method-in-java-with-examples/" TargetMode="External"/><Relationship Id="rId7" Type="http://schemas.openxmlformats.org/officeDocument/2006/relationships/hyperlink" Target="https://www.geeksforgeeks.org/java-program-to-remove-a-specific-element-from-a-collection/" TargetMode="Externa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hyperlink" Target="https://www.geeksforgeeks.org/what-is-java-parallel-streams/" TargetMode="External"/><Relationship Id="rId5" Type="http://schemas.openxmlformats.org/officeDocument/2006/relationships/hyperlink" Target="https://www.geeksforgeeks.org/collections-max-method-in-java-with-examples/" TargetMode="External"/><Relationship Id="rId4" Type="http://schemas.openxmlformats.org/officeDocument/2006/relationships/hyperlink" Target="https://www.geeksforgeeks.org/iterators-in-java/"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hyperlink" Target="https://www.geeksforgeeks.org/java-util-package-java/" TargetMode="External"/><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hyperlink" Target="https://www.geeksforgeeks.org/collections-in-java-2/"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hyperlink" Target="https://www.javatpoint.com/java-hashmap" TargetMode="External"/><Relationship Id="rId2" Type="http://schemas.openxmlformats.org/officeDocument/2006/relationships/notesSlide" Target="../notesSlides/notesSlide25.xml"/><Relationship Id="rId1" Type="http://schemas.openxmlformats.org/officeDocument/2006/relationships/slideLayout" Target="../slideLayouts/slideLayout7.xml"/><Relationship Id="rId5" Type="http://schemas.openxmlformats.org/officeDocument/2006/relationships/hyperlink" Target="https://www.javatpoint.com/java-treemap" TargetMode="External"/><Relationship Id="rId4" Type="http://schemas.openxmlformats.org/officeDocument/2006/relationships/hyperlink" Target="https://www.javatpoint.com/java-linkedhashmap"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www.geeksforgeeks.org/map-clear-method-in-java-with-example/"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hyperlink" Target="https://www.geeksforgeeks.org/map-entryset-method-in-java-with-examples/" TargetMode="External"/><Relationship Id="rId5" Type="http://schemas.openxmlformats.org/officeDocument/2006/relationships/hyperlink" Target="https://www.geeksforgeeks.org/map-containsvalue-method-in-java-with-examples/" TargetMode="External"/><Relationship Id="rId4" Type="http://schemas.openxmlformats.org/officeDocument/2006/relationships/hyperlink" Target="https://www.geeksforgeeks.org/map-containskey-method-in-java-with-examples/" TargetMode="External"/></Relationships>
</file>

<file path=ppt/slides/_rels/slide29.xml.rels><?xml version="1.0" encoding="UTF-8" standalone="yes"?>
<Relationships xmlns="http://schemas.openxmlformats.org/package/2006/relationships"><Relationship Id="rId3" Type="http://schemas.openxmlformats.org/officeDocument/2006/relationships/hyperlink" Target="https://www.geeksforgeeks.org/map-equals-method-in-java-with-examples/" TargetMode="External"/><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hyperlink" Target="https://www.geeksforgeeks.org/map-isempty-method-in-java-with-examples/" TargetMode="External"/><Relationship Id="rId5" Type="http://schemas.openxmlformats.org/officeDocument/2006/relationships/hyperlink" Target="https://www.geeksforgeeks.org/map-hashcode-method-in-java-with-examples/" TargetMode="External"/><Relationship Id="rId4" Type="http://schemas.openxmlformats.org/officeDocument/2006/relationships/hyperlink" Target="https://www.geeksforgeeks.org/map-get-method-in-java-with-examples/"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www.geeksforgeeks.org/map-keyset-method-in-java-with-examples/" TargetMode="External"/><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hyperlink" Target="https://www.geeksforgeeks.org/map-remove-method-in-java-with-examples/" TargetMode="External"/><Relationship Id="rId5" Type="http://schemas.openxmlformats.org/officeDocument/2006/relationships/hyperlink" Target="https://www.geeksforgeeks.org/map-putall-method-in-java-with-examples/" TargetMode="External"/><Relationship Id="rId4" Type="http://schemas.openxmlformats.org/officeDocument/2006/relationships/hyperlink" Target="https://www.geeksforgeeks.org/map-put-method-in-java-with-example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geeksforgeeks.org/hashmap-size-method-in-java/"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hyperlink" Target="https://www.geeksforgeeks.org/hashmap-values-method-in-java/" TargetMode="Externa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dirty="0"/>
              <a:t>Collections</a:t>
            </a:r>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The Collection in Java is a framework that provides an architecture to store and manipulate the group of objects.</a:t>
            </a:r>
          </a:p>
          <a:p>
            <a:r>
              <a:rPr lang="en-US" dirty="0"/>
              <a:t>	Java Collections can achieve all the operations that you perform on a data such as searching, sorting, insertion, manipulation, and deletion.</a:t>
            </a:r>
          </a:p>
          <a:p>
            <a:r>
              <a:rPr lang="en-US" dirty="0"/>
              <a:t>	Java Collection means a single unit of objects. Java Collection framework provides many interfaces (Set, List, Queue, Deque) and classes (</a:t>
            </a:r>
            <a:r>
              <a:rPr lang="en-US" dirty="0" err="1"/>
              <a:t>ArrayList</a:t>
            </a:r>
            <a:r>
              <a:rPr lang="en-US" dirty="0"/>
              <a:t>, Vector, LinkedList, HashSet, </a:t>
            </a:r>
            <a:r>
              <a:rPr lang="en-US" dirty="0" err="1"/>
              <a:t>LinkedHashSet</a:t>
            </a:r>
            <a:r>
              <a:rPr lang="en-US" dirty="0"/>
              <a:t>, </a:t>
            </a:r>
            <a:r>
              <a:rPr lang="en-US" dirty="0" err="1"/>
              <a:t>TreeSet</a:t>
            </a:r>
            <a:r>
              <a:rPr lang="en-US" dirty="0"/>
              <a:t>).</a:t>
            </a:r>
          </a:p>
          <a:p>
            <a:r>
              <a:rPr lang="en-US" dirty="0"/>
              <a:t>What is Collection in Java</a:t>
            </a:r>
          </a:p>
          <a:p>
            <a:r>
              <a:rPr lang="en-US" dirty="0"/>
              <a:t>	A Collection represents a single unit of objects, i.e., a group.</a:t>
            </a:r>
          </a:p>
          <a:p>
            <a:r>
              <a:rPr lang="en-US" dirty="0"/>
              <a:t>What is a framework in Java</a:t>
            </a:r>
          </a:p>
          <a:p>
            <a:r>
              <a:rPr lang="en-US" dirty="0"/>
              <a:t>    It provides readymade architecture.</a:t>
            </a:r>
          </a:p>
          <a:p>
            <a:r>
              <a:rPr lang="en-US" dirty="0"/>
              <a:t>    It represents a set of classes and interfaces.</a:t>
            </a:r>
          </a:p>
        </p:txBody>
      </p:sp>
    </p:spTree>
    <p:extLst>
      <p:ext uri="{BB962C8B-B14F-4D97-AF65-F5344CB8AC3E}">
        <p14:creationId xmlns:p14="http://schemas.microsoft.com/office/powerpoint/2010/main" val="4165340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endParaRPr lang="en-US" dirty="0"/>
          </a:p>
          <a:p>
            <a:r>
              <a:rPr lang="en-US" dirty="0"/>
              <a:t>What is Collection framework</a:t>
            </a:r>
          </a:p>
          <a:p>
            <a:r>
              <a:rPr lang="en-US" dirty="0"/>
              <a:t>	The Collection framework represents a unified architecture for storing and manipulating a group of objects.</a:t>
            </a:r>
          </a:p>
          <a:p>
            <a:r>
              <a:rPr lang="en-US" dirty="0"/>
              <a:t> It has:   Interfaces and its implementations, i.e., classes   </a:t>
            </a:r>
          </a:p>
          <a:p>
            <a:r>
              <a:rPr lang="en-US" dirty="0"/>
              <a:t>	Any group of individual objects that are represented as a single unit is known as a Java Collection of Objects. In Java, a separate framework named the “Collection Framework” has been defined in JDK 1.2 which holds all the Java Collection Classes and Interface in it. </a:t>
            </a:r>
          </a:p>
          <a:p>
            <a:r>
              <a:rPr lang="en-US" dirty="0"/>
              <a:t>	In Java, the Collection interface (</a:t>
            </a:r>
            <a:r>
              <a:rPr lang="en-US" dirty="0" err="1"/>
              <a:t>java.util.Collection</a:t>
            </a:r>
            <a:r>
              <a:rPr lang="en-US" dirty="0"/>
              <a:t>) and Map interface (</a:t>
            </a:r>
            <a:r>
              <a:rPr lang="en-US" dirty="0" err="1"/>
              <a:t>java.util.Map</a:t>
            </a:r>
            <a:r>
              <a:rPr lang="en-US" dirty="0"/>
              <a:t>) are the two main “root” interfaces of Java collection classes.</a:t>
            </a:r>
          </a:p>
        </p:txBody>
      </p:sp>
    </p:spTree>
    <p:extLst>
      <p:ext uri="{BB962C8B-B14F-4D97-AF65-F5344CB8AC3E}">
        <p14:creationId xmlns:p14="http://schemas.microsoft.com/office/powerpoint/2010/main" val="356409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18088" y="1787365"/>
            <a:ext cx="9489241" cy="4603603"/>
          </a:xfrm>
        </p:spPr>
        <p:txBody>
          <a:bodyPr>
            <a:normAutofit/>
          </a:bodyPr>
          <a:lstStyle/>
          <a:p>
            <a:endParaRPr lang="en-US" dirty="0"/>
          </a:p>
        </p:txBody>
      </p:sp>
      <p:pic>
        <p:nvPicPr>
          <p:cNvPr id="4" name="Picture 3" descr="A diagram of a set&#10;&#10;Description automatically generated">
            <a:extLst>
              <a:ext uri="{FF2B5EF4-FFF2-40B4-BE49-F238E27FC236}">
                <a16:creationId xmlns:a16="http://schemas.microsoft.com/office/drawing/2014/main" id="{585FF1BD-509D-A022-9D7F-5642722CFBB6}"/>
              </a:ext>
            </a:extLst>
          </p:cNvPr>
          <p:cNvPicPr>
            <a:picLocks noChangeAspect="1"/>
          </p:cNvPicPr>
          <p:nvPr/>
        </p:nvPicPr>
        <p:blipFill>
          <a:blip r:embed="rId3"/>
          <a:stretch>
            <a:fillRect/>
          </a:stretch>
        </p:blipFill>
        <p:spPr>
          <a:xfrm>
            <a:off x="1218088" y="2025445"/>
            <a:ext cx="9755823" cy="3842510"/>
          </a:xfrm>
          <a:prstGeom prst="rect">
            <a:avLst/>
          </a:prstGeom>
        </p:spPr>
      </p:pic>
    </p:spTree>
    <p:extLst>
      <p:ext uri="{BB962C8B-B14F-4D97-AF65-F5344CB8AC3E}">
        <p14:creationId xmlns:p14="http://schemas.microsoft.com/office/powerpoint/2010/main" val="15304793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Need for a Separate Collection Framework in Java</a:t>
            </a:r>
          </a:p>
          <a:p>
            <a:r>
              <a:rPr lang="en-US" dirty="0"/>
              <a:t>	Before the Collection Framework(or before JDK 1.2) was introduced, the standard methods for grouping Java objects (or collections) were Arrays or Vectors, or </a:t>
            </a:r>
            <a:r>
              <a:rPr lang="en-US" dirty="0" err="1"/>
              <a:t>Hashtables</a:t>
            </a:r>
            <a:r>
              <a:rPr lang="en-US" dirty="0"/>
              <a:t>. All of these collections had no common interface. Therefore, though the main aim of all the collections is the same, the implementation of all these collections was defined independently and had no correlation among them. And also, it is very difficult for the users to remember all the different methods, syntax, and constructors present in every collection class. </a:t>
            </a:r>
          </a:p>
          <a:p>
            <a:r>
              <a:rPr lang="en-US" dirty="0"/>
              <a:t>	Let’s understand this with an example of adding an element in a </a:t>
            </a:r>
            <a:r>
              <a:rPr lang="en-US" dirty="0" err="1"/>
              <a:t>hashtable</a:t>
            </a:r>
            <a:r>
              <a:rPr lang="en-US" dirty="0"/>
              <a:t> and a vector. </a:t>
            </a:r>
          </a:p>
        </p:txBody>
      </p:sp>
    </p:spTree>
    <p:extLst>
      <p:ext uri="{BB962C8B-B14F-4D97-AF65-F5344CB8AC3E}">
        <p14:creationId xmlns:p14="http://schemas.microsoft.com/office/powerpoint/2010/main" val="15856899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2" name="Content Placeholder 1">
            <a:extLst>
              <a:ext uri="{FF2B5EF4-FFF2-40B4-BE49-F238E27FC236}">
                <a16:creationId xmlns:a16="http://schemas.microsoft.com/office/drawing/2014/main" id="{090372AB-0745-B571-EC71-094DD207A435}"/>
              </a:ext>
            </a:extLst>
          </p:cNvPr>
          <p:cNvSpPr>
            <a:spLocks noGrp="1" noChangeArrowheads="1"/>
          </p:cNvSpPr>
          <p:nvPr>
            <p:ph sz="half" idx="2"/>
          </p:nvPr>
        </p:nvSpPr>
        <p:spPr bwMode="auto">
          <a:xfrm>
            <a:off x="1044574" y="1503184"/>
            <a:ext cx="9256421"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int</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arr</a:t>
            </a:r>
            <a:r>
              <a:rPr kumimoji="0" lang="en-US" altLang="en-US" sz="1000" b="0" i="0" u="none" strike="noStrike" cap="none" normalizeH="0" baseline="0" dirty="0">
                <a:ln>
                  <a:noFill/>
                </a:ln>
                <a:solidFill>
                  <a:schemeClr val="tx1"/>
                </a:solidFill>
                <a:effectLst/>
                <a:latin typeface="Arial Unicode MS" panose="020B0604020202020204" pitchFamily="34" charset="-128"/>
              </a:rPr>
              <a:t>[] = new</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panose="020B0604020202020204" pitchFamily="34" charset="-128"/>
              </a:rPr>
              <a:t>int[] { 1, 2, 3, 4</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Vector&lt;Integer&gt; v = new</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a:ln>
                  <a:noFill/>
                </a:ln>
                <a:solidFill>
                  <a:schemeClr val="tx1"/>
                </a:solidFill>
                <a:effectLst/>
                <a:latin typeface="Arial Unicode MS" panose="020B0604020202020204" pitchFamily="34" charset="-128"/>
              </a:rPr>
              <a:t>Vector();</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r>
              <a:rPr kumimoji="0" lang="en-US" altLang="en-US" sz="1000" b="0" i="0" u="none" strike="noStrike" cap="none" normalizeH="0" baseline="0" dirty="0">
                <a:ln>
                  <a:noFill/>
                </a:ln>
                <a:solidFill>
                  <a:schemeClr val="tx1"/>
                </a:solidFill>
                <a:effectLst/>
                <a:latin typeface="Arial Unicode MS" panose="020B0604020202020204" pitchFamily="34" charset="-128"/>
              </a:rPr>
              <a:t>&lt;Integer, String&gt; h = new</a:t>
            </a:r>
            <a:r>
              <a:rPr kumimoji="0" lang="en-US" altLang="en-US" sz="800" b="0" i="0" u="none" strike="noStrike" cap="none" normalizeH="0" baseline="0" dirty="0">
                <a:ln>
                  <a:noFill/>
                </a:ln>
                <a:solidFill>
                  <a:schemeClr val="tx1"/>
                </a:solidFill>
                <a:effectLst/>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Adding the elements into the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vector</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v.addElement</a:t>
            </a:r>
            <a:r>
              <a:rPr kumimoji="0" lang="en-US" altLang="en-US" sz="1000" b="0" i="0" u="none" strike="noStrike" cap="none" normalizeH="0" baseline="0" dirty="0">
                <a:ln>
                  <a:noFill/>
                </a:ln>
                <a:solidFill>
                  <a:schemeClr val="tx1"/>
                </a:solidFill>
                <a:effectLst/>
                <a:latin typeface="Arial Unicode MS" panose="020B0604020202020204" pitchFamily="34" charset="-128"/>
              </a:rPr>
              <a:t>(1);</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v.addElement</a:t>
            </a:r>
            <a:r>
              <a:rPr kumimoji="0" lang="en-US" altLang="en-US" sz="1000" b="0" i="0" u="none" strike="noStrike" cap="none" normalizeH="0" baseline="0" dirty="0">
                <a:ln>
                  <a:noFill/>
                </a:ln>
                <a:solidFill>
                  <a:schemeClr val="tx1"/>
                </a:solidFill>
                <a:effectLst/>
                <a:latin typeface="Arial Unicode MS" panose="020B0604020202020204" pitchFamily="34" charset="-128"/>
              </a:rPr>
              <a: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Adding the element into the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h.put</a:t>
            </a:r>
            <a:r>
              <a:rPr kumimoji="0" lang="en-US" altLang="en-US" sz="1000" b="0" i="0" u="none" strike="noStrike" cap="none" normalizeH="0" baseline="0" dirty="0">
                <a:ln>
                  <a:noFill/>
                </a:ln>
                <a:solidFill>
                  <a:schemeClr val="tx1"/>
                </a:solidFill>
                <a:effectLst/>
                <a:latin typeface="Arial Unicode MS" panose="020B0604020202020204" pitchFamily="34" charset="-128"/>
              </a:rPr>
              <a:t>(1,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abc</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h.put</a:t>
            </a:r>
            <a:r>
              <a:rPr kumimoji="0" lang="en-US" altLang="en-US" sz="1000" b="0" i="0" u="none" strike="noStrike" cap="none" normalizeH="0" baseline="0" dirty="0">
                <a:ln>
                  <a:noFill/>
                </a:ln>
                <a:solidFill>
                  <a:schemeClr val="tx1"/>
                </a:solidFill>
                <a:effectLst/>
                <a:latin typeface="Arial Unicode MS" panose="020B0604020202020204" pitchFamily="34" charset="-128"/>
              </a:rPr>
              <a:t>(2, "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xyz</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Array instance creation requires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while Vector and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hastable</a:t>
            </a:r>
            <a:r>
              <a:rPr kumimoji="0" lang="en-US" altLang="en-US" sz="1000" b="0" i="0" u="none" strike="noStrike" cap="none" normalizeH="0" baseline="0" dirty="0">
                <a:ln>
                  <a:noFill/>
                </a:ln>
                <a:solidFill>
                  <a:schemeClr val="tx1"/>
                </a:solidFill>
                <a:effectLst/>
                <a:latin typeface="Arial Unicode MS" panose="020B0604020202020204" pitchFamily="34" charset="-128"/>
              </a:rPr>
              <a:t> require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Vector element insertion requires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addElement</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but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r>
              <a:rPr kumimoji="0" lang="en-US" altLang="en-US" sz="1000" b="0" i="0" u="none" strike="noStrike" cap="none" normalizeH="0" baseline="0" dirty="0">
                <a:ln>
                  <a:noFill/>
                </a:ln>
                <a:solidFill>
                  <a:schemeClr val="tx1"/>
                </a:solidFill>
                <a:effectLst/>
                <a:latin typeface="Arial Unicode MS" panose="020B0604020202020204" pitchFamily="34" charset="-128"/>
              </a:rPr>
              <a:t> element insertion requires put()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Accessing the first element of the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array, vector and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System.out.println</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r>
              <a:rPr kumimoji="0" lang="en-US" altLang="en-US" sz="1000" b="0" i="0" u="none" strike="noStrike" cap="none" normalizeH="0" baseline="0" dirty="0" err="1">
                <a:ln>
                  <a:noFill/>
                </a:ln>
                <a:solidFill>
                  <a:schemeClr val="tx1"/>
                </a:solidFill>
                <a:effectLst/>
                <a:latin typeface="Arial Unicode MS" panose="020B0604020202020204" pitchFamily="34" charset="-128"/>
              </a:rPr>
              <a:t>arr</a:t>
            </a:r>
            <a:r>
              <a:rPr kumimoji="0" lang="en-US" altLang="en-US" sz="1000" b="0" i="0" u="none" strike="noStrike" cap="none" normalizeH="0" baseline="0" dirty="0">
                <a:ln>
                  <a:noFill/>
                </a:ln>
                <a:solidFill>
                  <a:schemeClr val="tx1"/>
                </a:solidFill>
                <a:effectLst/>
                <a:latin typeface="Arial Unicode MS" panose="020B0604020202020204" pitchFamily="34" charset="-128"/>
              </a:rPr>
              <a:t>[0]);</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System.out.println</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r>
              <a:rPr kumimoji="0" lang="en-US" altLang="en-US" sz="1000" b="0" i="0" u="none" strike="noStrike" cap="none" normalizeH="0" baseline="0" dirty="0" err="1">
                <a:ln>
                  <a:noFill/>
                </a:ln>
                <a:solidFill>
                  <a:schemeClr val="tx1"/>
                </a:solidFill>
                <a:effectLst/>
                <a:latin typeface="Arial Unicode MS" panose="020B0604020202020204" pitchFamily="34" charset="-128"/>
              </a:rPr>
              <a:t>v.elementAt</a:t>
            </a:r>
            <a:r>
              <a:rPr kumimoji="0" lang="en-US" altLang="en-US" sz="1000" b="0" i="0" u="none" strike="noStrike" cap="none" normalizeH="0" baseline="0" dirty="0">
                <a:ln>
                  <a:noFill/>
                </a:ln>
                <a:solidFill>
                  <a:schemeClr val="tx1"/>
                </a:solidFill>
                <a:effectLst/>
                <a:latin typeface="Arial Unicode MS" panose="020B0604020202020204" pitchFamily="34" charset="-128"/>
              </a:rPr>
              <a:t>(0));</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System.out.println</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h.get</a:t>
            </a:r>
            <a:r>
              <a:rPr kumimoji="0" lang="en-US" altLang="en-US" sz="1000" b="0" i="0" u="none" strike="noStrike" cap="none" normalizeH="0" baseline="0" dirty="0">
                <a:ln>
                  <a:noFill/>
                </a:ln>
                <a:solidFill>
                  <a:schemeClr val="tx1"/>
                </a:solidFill>
                <a:effectLst/>
                <a:latin typeface="Arial Unicode MS" panose="020B0604020202020204" pitchFamily="34" charset="-128"/>
              </a:rPr>
              <a:t>(1));</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Array elements are accessed using [],</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vector elements using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elementAt</a:t>
            </a:r>
            <a:r>
              <a:rPr kumimoji="0" lang="en-US" altLang="en-US" sz="1000" b="0" i="0" u="none" strike="noStrike" cap="none" normalizeH="0" baseline="0" dirty="0">
                <a:ln>
                  <a:noFill/>
                </a:ln>
                <a:solidFill>
                  <a:schemeClr val="tx1"/>
                </a:solidFill>
                <a:effectLst/>
                <a:latin typeface="Arial Unicode MS" panose="020B0604020202020204" pitchFamily="34" charset="-128"/>
              </a:rPr>
              <a:t>()</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tx1"/>
                </a:solidFill>
                <a:effectLst/>
                <a:latin typeface="Arial Unicode MS" panose="020B0604020202020204" pitchFamily="34" charset="-128"/>
              </a:rPr>
              <a:t>        // and </a:t>
            </a:r>
            <a:r>
              <a:rPr kumimoji="0" lang="en-US" altLang="en-US" sz="1000" b="0" i="0" u="none" strike="noStrike" cap="none" normalizeH="0" baseline="0" dirty="0" err="1">
                <a:ln>
                  <a:noFill/>
                </a:ln>
                <a:solidFill>
                  <a:schemeClr val="tx1"/>
                </a:solidFill>
                <a:effectLst/>
                <a:latin typeface="Arial Unicode MS" panose="020B0604020202020204" pitchFamily="34" charset="-128"/>
              </a:rPr>
              <a:t>hashtable</a:t>
            </a:r>
            <a:r>
              <a:rPr kumimoji="0" lang="en-US" altLang="en-US" sz="1000" b="0" i="0" u="none" strike="noStrike" cap="none" normalizeH="0" baseline="0" dirty="0">
                <a:ln>
                  <a:noFill/>
                </a:ln>
                <a:solidFill>
                  <a:schemeClr val="tx1"/>
                </a:solidFill>
                <a:effectLst/>
                <a:latin typeface="Arial Unicode MS" panose="020B0604020202020204" pitchFamily="34" charset="-128"/>
              </a:rPr>
              <a:t> elements using get()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1373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	As we can observe, none of these collections(Array, Vector, or </a:t>
            </a:r>
            <a:r>
              <a:rPr lang="en-US" dirty="0" err="1"/>
              <a:t>Hashtable</a:t>
            </a:r>
            <a:r>
              <a:rPr lang="en-US" dirty="0"/>
              <a:t>) implements a standard member access interface, it was very difficult for programmers to write algorithms that can work for all kinds of Collections. Another drawback is that most of the ‘Vector’ methods are final, meaning we cannot extend the ’Vector’ class to implement a similar kind of Collection. Therefore, Java developers decided to come up with a common interface to deal with the above-mentioned problems and introduced the Collection Framework in JDK 1.2 post which both, legacy Vectors and </a:t>
            </a:r>
            <a:r>
              <a:rPr lang="en-US" dirty="0" err="1"/>
              <a:t>Hashtables</a:t>
            </a:r>
            <a:r>
              <a:rPr lang="en-US" dirty="0"/>
              <a:t> were modified to conform to the Collection Framework.</a:t>
            </a:r>
          </a:p>
          <a:p>
            <a:endParaRPr lang="en-US" dirty="0"/>
          </a:p>
        </p:txBody>
      </p:sp>
    </p:spTree>
    <p:extLst>
      <p:ext uri="{BB962C8B-B14F-4D97-AF65-F5344CB8AC3E}">
        <p14:creationId xmlns:p14="http://schemas.microsoft.com/office/powerpoint/2010/main" val="2844072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Advantages of the Java Collection Framework</a:t>
            </a:r>
          </a:p>
          <a:p>
            <a:r>
              <a:rPr lang="en-US" dirty="0"/>
              <a:t>Since the lack of a collection framework gave rise to the above set of disadvantages, the following are the advantages of the collection framework. </a:t>
            </a:r>
          </a:p>
          <a:p>
            <a:r>
              <a:rPr lang="en-US" dirty="0"/>
              <a:t>    </a:t>
            </a:r>
            <a:r>
              <a:rPr lang="en-US" b="1" dirty="0"/>
              <a:t>Consistent API</a:t>
            </a:r>
            <a:r>
              <a:rPr lang="en-US" dirty="0"/>
              <a:t>: The API has a basic set of interfaces like Collection, Set, List, or Map, all the classes (</a:t>
            </a:r>
            <a:r>
              <a:rPr lang="en-US" dirty="0" err="1"/>
              <a:t>ArrayList</a:t>
            </a:r>
            <a:r>
              <a:rPr lang="en-US" dirty="0"/>
              <a:t>, LinkedList, Vector, </a:t>
            </a:r>
            <a:r>
              <a:rPr lang="en-US" dirty="0" err="1"/>
              <a:t>etc</a:t>
            </a:r>
            <a:r>
              <a:rPr lang="en-US" dirty="0"/>
              <a:t>) that implement these interfaces have some common set of methods.</a:t>
            </a:r>
          </a:p>
          <a:p>
            <a:r>
              <a:rPr lang="en-US" dirty="0"/>
              <a:t>    </a:t>
            </a:r>
            <a:r>
              <a:rPr lang="en-US" b="1" dirty="0"/>
              <a:t>Reduces programming effort</a:t>
            </a:r>
            <a:r>
              <a:rPr lang="en-US" dirty="0"/>
              <a:t>: A programmer doesn’t have to worry about the design of the Collection but rather he can focus on its best use in his program. Therefore, the basic concept of Object-oriented programming (i.e.) abstraction has been successfully implemented.</a:t>
            </a:r>
          </a:p>
          <a:p>
            <a:r>
              <a:rPr lang="en-US" dirty="0"/>
              <a:t>    </a:t>
            </a:r>
            <a:r>
              <a:rPr lang="en-US" b="1" dirty="0"/>
              <a:t>Increases program speed and quality</a:t>
            </a:r>
            <a:r>
              <a:rPr lang="en-US" dirty="0"/>
              <a:t>: Increases performance by providing high-performance implementations of useful data structures and algorithms because in this case, the programmer need not think of the best implementation of a specific data structure. He can simply use the best implementation to drastically boost the performance of his algorithm/program.</a:t>
            </a:r>
          </a:p>
          <a:p>
            <a:endParaRPr lang="en-US" dirty="0"/>
          </a:p>
        </p:txBody>
      </p:sp>
    </p:spTree>
    <p:extLst>
      <p:ext uri="{BB962C8B-B14F-4D97-AF65-F5344CB8AC3E}">
        <p14:creationId xmlns:p14="http://schemas.microsoft.com/office/powerpoint/2010/main" val="2794273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Hierarchy of the Collection Framework in Java</a:t>
            </a:r>
          </a:p>
          <a:p>
            <a:r>
              <a:rPr lang="en-US" dirty="0"/>
              <a:t>	The utility package, (</a:t>
            </a:r>
            <a:r>
              <a:rPr lang="en-US" dirty="0" err="1"/>
              <a:t>java.util</a:t>
            </a:r>
            <a:r>
              <a:rPr lang="en-US" dirty="0"/>
              <a:t>) contains all the classes and interfaces that are required by the collection framework. The collection framework contains an interface named an </a:t>
            </a:r>
            <a:r>
              <a:rPr lang="en-US" dirty="0" err="1"/>
              <a:t>iterable</a:t>
            </a:r>
            <a:r>
              <a:rPr lang="en-US" dirty="0"/>
              <a:t> interface which provides the iterator to iterate through all the collections. This interface is extended by the main collection interface which acts as a root for the collection framework. All the collections extend this collection interface thereby extending the properties of the iterator and the methods of this interface. The following figure illustrates the hierarchy of the collection framework. </a:t>
            </a:r>
          </a:p>
        </p:txBody>
      </p:sp>
    </p:spTree>
    <p:extLst>
      <p:ext uri="{BB962C8B-B14F-4D97-AF65-F5344CB8AC3E}">
        <p14:creationId xmlns:p14="http://schemas.microsoft.com/office/powerpoint/2010/main" val="3685164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18088" y="1787365"/>
            <a:ext cx="9489241" cy="4603603"/>
          </a:xfrm>
        </p:spPr>
        <p:txBody>
          <a:bodyPr>
            <a:normAutofit/>
          </a:bodyPr>
          <a:lstStyle/>
          <a:p>
            <a:endParaRPr lang="en-US" dirty="0"/>
          </a:p>
        </p:txBody>
      </p:sp>
      <p:pic>
        <p:nvPicPr>
          <p:cNvPr id="4" name="Picture 3" descr="A diagram of a set&#10;&#10;Description automatically generated">
            <a:extLst>
              <a:ext uri="{FF2B5EF4-FFF2-40B4-BE49-F238E27FC236}">
                <a16:creationId xmlns:a16="http://schemas.microsoft.com/office/drawing/2014/main" id="{585FF1BD-509D-A022-9D7F-5642722CFBB6}"/>
              </a:ext>
            </a:extLst>
          </p:cNvPr>
          <p:cNvPicPr>
            <a:picLocks noChangeAspect="1"/>
          </p:cNvPicPr>
          <p:nvPr/>
        </p:nvPicPr>
        <p:blipFill>
          <a:blip r:embed="rId3"/>
          <a:stretch>
            <a:fillRect/>
          </a:stretch>
        </p:blipFill>
        <p:spPr>
          <a:xfrm>
            <a:off x="1218088" y="2025445"/>
            <a:ext cx="9755823" cy="3842510"/>
          </a:xfrm>
          <a:prstGeom prst="rect">
            <a:avLst/>
          </a:prstGeom>
        </p:spPr>
      </p:pic>
    </p:spTree>
    <p:extLst>
      <p:ext uri="{BB962C8B-B14F-4D97-AF65-F5344CB8AC3E}">
        <p14:creationId xmlns:p14="http://schemas.microsoft.com/office/powerpoint/2010/main" val="27407555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8DC0BDE8-9656-C4E1-028A-E8C2D1C6FD01}"/>
              </a:ext>
            </a:extLst>
          </p:cNvPr>
          <p:cNvGraphicFramePr>
            <a:graphicFrameLocks noGrp="1"/>
          </p:cNvGraphicFramePr>
          <p:nvPr>
            <p:ph sz="half" idx="2"/>
            <p:extLst>
              <p:ext uri="{D42A27DB-BD31-4B8C-83A1-F6EECF244321}">
                <p14:modId xmlns:p14="http://schemas.microsoft.com/office/powerpoint/2010/main" val="2553806490"/>
              </p:ext>
            </p:extLst>
          </p:nvPr>
        </p:nvGraphicFramePr>
        <p:xfrm>
          <a:off x="1209368" y="1769805"/>
          <a:ext cx="9724104" cy="4411465"/>
        </p:xfrm>
        <a:graphic>
          <a:graphicData uri="http://schemas.openxmlformats.org/drawingml/2006/table">
            <a:tbl>
              <a:tblPr/>
              <a:tblGrid>
                <a:gridCol w="4862052">
                  <a:extLst>
                    <a:ext uri="{9D8B030D-6E8A-4147-A177-3AD203B41FA5}">
                      <a16:colId xmlns:a16="http://schemas.microsoft.com/office/drawing/2014/main" val="157137074"/>
                    </a:ext>
                  </a:extLst>
                </a:gridCol>
                <a:gridCol w="4862052">
                  <a:extLst>
                    <a:ext uri="{9D8B030D-6E8A-4147-A177-3AD203B41FA5}">
                      <a16:colId xmlns:a16="http://schemas.microsoft.com/office/drawing/2014/main" val="3529269306"/>
                    </a:ext>
                  </a:extLst>
                </a:gridCol>
              </a:tblGrid>
              <a:tr h="194546">
                <a:tc>
                  <a:txBody>
                    <a:bodyPr/>
                    <a:lstStyle/>
                    <a:p>
                      <a:pPr algn="ctr" rtl="0"/>
                      <a:r>
                        <a:rPr lang="en-US" sz="1000">
                          <a:effectLst/>
                        </a:rPr>
                        <a:t>Method</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rtl="0"/>
                      <a:r>
                        <a:rPr lang="en-US" sz="1000">
                          <a:effectLst/>
                        </a:rPr>
                        <a:t>Description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43255475"/>
                  </a:ext>
                </a:extLst>
              </a:tr>
              <a:tr h="462401">
                <a:tc>
                  <a:txBody>
                    <a:bodyPr/>
                    <a:lstStyle/>
                    <a:p>
                      <a:r>
                        <a:rPr lang="en-US" sz="1000" b="1" dirty="0">
                          <a:effectLst/>
                          <a:hlinkClick r:id="rId3"/>
                        </a:rPr>
                        <a:t>add(Object)</a:t>
                      </a:r>
                      <a:endParaRPr lang="en-US" sz="1000" dirty="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is used to add an object to the collection.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2286383"/>
                  </a:ext>
                </a:extLst>
              </a:tr>
              <a:tr h="601121">
                <a:tc>
                  <a:txBody>
                    <a:bodyPr/>
                    <a:lstStyle/>
                    <a:p>
                      <a:r>
                        <a:rPr lang="en-US" sz="1000" b="1">
                          <a:effectLst/>
                          <a:hlinkClick r:id="rId4"/>
                        </a:rPr>
                        <a:t>addAll(Collection c)</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adds all the elements in the given collection to this collection.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1855380"/>
                  </a:ext>
                </a:extLst>
              </a:tr>
              <a:tr h="462401">
                <a:tc>
                  <a:txBody>
                    <a:bodyPr/>
                    <a:lstStyle/>
                    <a:p>
                      <a:r>
                        <a:rPr lang="en-US" sz="1000" b="1">
                          <a:effectLst/>
                          <a:hlinkClick r:id="rId5"/>
                        </a:rPr>
                        <a:t>clear()</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removes all of the elements from this collection.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21539955"/>
                  </a:ext>
                </a:extLst>
              </a:tr>
              <a:tr h="601121">
                <a:tc>
                  <a:txBody>
                    <a:bodyPr/>
                    <a:lstStyle/>
                    <a:p>
                      <a:r>
                        <a:rPr lang="en-US" sz="1000" b="1">
                          <a:effectLst/>
                          <a:hlinkClick r:id="rId6"/>
                        </a:rPr>
                        <a:t>contains(Object o)</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returns true if the collection contains the specified element.</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670370"/>
                  </a:ext>
                </a:extLst>
              </a:tr>
              <a:tr h="739841">
                <a:tc>
                  <a:txBody>
                    <a:bodyPr/>
                    <a:lstStyle/>
                    <a:p>
                      <a:r>
                        <a:rPr lang="en-US" sz="1000" b="1">
                          <a:effectLst/>
                          <a:hlinkClick r:id="rId7"/>
                        </a:rPr>
                        <a:t>containsAll(Collection c)</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returns true if the collection contains all of the elements in the given collection.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00284903"/>
                  </a:ext>
                </a:extLst>
              </a:tr>
              <a:tr h="739841">
                <a:tc>
                  <a:txBody>
                    <a:bodyPr/>
                    <a:lstStyle/>
                    <a:p>
                      <a:r>
                        <a:rPr lang="en-US" sz="1000" b="1">
                          <a:effectLst/>
                          <a:hlinkClick r:id="rId8"/>
                        </a:rPr>
                        <a:t>equals(Object o)</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effectLst/>
                        </a:rPr>
                        <a:t>This method compares the specified object with this collection for equality.</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7264347"/>
                  </a:ext>
                </a:extLst>
              </a:tr>
              <a:tr h="601121">
                <a:tc>
                  <a:txBody>
                    <a:bodyPr/>
                    <a:lstStyle/>
                    <a:p>
                      <a:r>
                        <a:rPr lang="en-US" sz="1000" b="1">
                          <a:effectLst/>
                          <a:hlinkClick r:id="rId8"/>
                        </a:rPr>
                        <a:t>hashCode()</a:t>
                      </a:r>
                      <a:endParaRPr lang="en-US" sz="1000">
                        <a:effectLst/>
                      </a:endParaRP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dirty="0">
                          <a:effectLst/>
                        </a:rPr>
                        <a:t>This method is used to return the hash code value for this collection.</a:t>
                      </a:r>
                    </a:p>
                  </a:txBody>
                  <a:tcPr marL="51218" marR="51218" marT="25609" marB="2560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22102941"/>
                  </a:ext>
                </a:extLst>
              </a:tr>
            </a:tbl>
          </a:graphicData>
        </a:graphic>
      </p:graphicFrame>
    </p:spTree>
    <p:extLst>
      <p:ext uri="{BB962C8B-B14F-4D97-AF65-F5344CB8AC3E}">
        <p14:creationId xmlns:p14="http://schemas.microsoft.com/office/powerpoint/2010/main" val="4155979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D83A6F8E-C806-994F-D606-F5817D988D13}"/>
              </a:ext>
            </a:extLst>
          </p:cNvPr>
          <p:cNvGraphicFramePr>
            <a:graphicFrameLocks noGrp="1"/>
          </p:cNvGraphicFramePr>
          <p:nvPr>
            <p:ph sz="half" idx="2"/>
            <p:extLst>
              <p:ext uri="{D42A27DB-BD31-4B8C-83A1-F6EECF244321}">
                <p14:modId xmlns:p14="http://schemas.microsoft.com/office/powerpoint/2010/main" val="2798432377"/>
              </p:ext>
            </p:extLst>
          </p:nvPr>
        </p:nvGraphicFramePr>
        <p:xfrm>
          <a:off x="1280159" y="1809135"/>
          <a:ext cx="9820460" cy="4398201"/>
        </p:xfrm>
        <a:graphic>
          <a:graphicData uri="http://schemas.openxmlformats.org/drawingml/2006/table">
            <a:tbl>
              <a:tblPr/>
              <a:tblGrid>
                <a:gridCol w="4910230">
                  <a:extLst>
                    <a:ext uri="{9D8B030D-6E8A-4147-A177-3AD203B41FA5}">
                      <a16:colId xmlns:a16="http://schemas.microsoft.com/office/drawing/2014/main" val="3505140239"/>
                    </a:ext>
                  </a:extLst>
                </a:gridCol>
                <a:gridCol w="4910230">
                  <a:extLst>
                    <a:ext uri="{9D8B030D-6E8A-4147-A177-3AD203B41FA5}">
                      <a16:colId xmlns:a16="http://schemas.microsoft.com/office/drawing/2014/main" val="2921858642"/>
                    </a:ext>
                  </a:extLst>
                </a:gridCol>
              </a:tblGrid>
              <a:tr h="488689">
                <a:tc>
                  <a:txBody>
                    <a:bodyPr/>
                    <a:lstStyle/>
                    <a:p>
                      <a:r>
                        <a:rPr lang="en-US" sz="1100" b="1">
                          <a:effectLst/>
                          <a:hlinkClick r:id="rId3"/>
                        </a:rPr>
                        <a:t>isEmpty()</a:t>
                      </a:r>
                      <a:endParaRPr lang="en-US" sz="1100">
                        <a:effectLst/>
                      </a:endParaRP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effectLst/>
                        </a:rPr>
                        <a:t>This method returns true if this collection contains no elements.</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67471836"/>
                  </a:ext>
                </a:extLst>
              </a:tr>
              <a:tr h="635296">
                <a:tc>
                  <a:txBody>
                    <a:bodyPr/>
                    <a:lstStyle/>
                    <a:p>
                      <a:r>
                        <a:rPr lang="en-US" sz="1100" b="1">
                          <a:effectLst/>
                          <a:hlinkClick r:id="rId4"/>
                        </a:rPr>
                        <a:t>iterator()</a:t>
                      </a:r>
                      <a:endParaRPr lang="en-US" sz="1100">
                        <a:effectLst/>
                      </a:endParaRP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effectLst/>
                        </a:rPr>
                        <a:t>This method returns an iterator over the elements in this collection.</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7049372"/>
                  </a:ext>
                </a:extLst>
              </a:tr>
              <a:tr h="635296">
                <a:tc>
                  <a:txBody>
                    <a:bodyPr/>
                    <a:lstStyle/>
                    <a:p>
                      <a:r>
                        <a:rPr lang="en-US" sz="1100" b="1">
                          <a:effectLst/>
                          <a:hlinkClick r:id="rId5"/>
                        </a:rPr>
                        <a:t>max()</a:t>
                      </a:r>
                      <a:r>
                        <a:rPr lang="en-US" sz="1100">
                          <a:effectLst/>
                        </a:rPr>
                        <a:t> </a:t>
                      </a:r>
                      <a:br>
                        <a:rPr lang="en-US" sz="1100">
                          <a:effectLst/>
                        </a:rPr>
                      </a:br>
                      <a:r>
                        <a:rPr lang="en-US" sz="1100">
                          <a:effectLst/>
                        </a:rPr>
                        <a:t> </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effectLst/>
                        </a:rPr>
                        <a:t>This method is used to return the maximum value present in the collection.</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4894977"/>
                  </a:ext>
                </a:extLst>
              </a:tr>
              <a:tr h="635296">
                <a:tc>
                  <a:txBody>
                    <a:bodyPr/>
                    <a:lstStyle/>
                    <a:p>
                      <a:r>
                        <a:rPr lang="en-US" sz="1100" b="1">
                          <a:effectLst/>
                          <a:hlinkClick r:id="rId6"/>
                        </a:rPr>
                        <a:t>parallelStream()</a:t>
                      </a:r>
                      <a:endParaRPr lang="en-US" sz="1100">
                        <a:effectLst/>
                      </a:endParaRP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effectLst/>
                        </a:rPr>
                        <a:t>This method returns a parallel Stream with this collection as its source.</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80819213"/>
                  </a:ext>
                </a:extLst>
              </a:tr>
              <a:tr h="1221722">
                <a:tc>
                  <a:txBody>
                    <a:bodyPr/>
                    <a:lstStyle/>
                    <a:p>
                      <a:r>
                        <a:rPr lang="en-US" sz="1100" b="1">
                          <a:effectLst/>
                          <a:hlinkClick r:id="rId7"/>
                        </a:rPr>
                        <a:t>remove(Object o)</a:t>
                      </a:r>
                      <a:endParaRPr lang="en-US" sz="1100">
                        <a:effectLst/>
                      </a:endParaRP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a:effectLst/>
                        </a:rPr>
                        <a:t>This method is used to remove the given object from the collection. If there are duplicate values, then this method removes the first occurrence of the object.</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508403"/>
                  </a:ext>
                </a:extLst>
              </a:tr>
              <a:tr h="781902">
                <a:tc>
                  <a:txBody>
                    <a:bodyPr/>
                    <a:lstStyle/>
                    <a:p>
                      <a:r>
                        <a:rPr lang="en-US" sz="1100" b="1">
                          <a:effectLst/>
                          <a:hlinkClick r:id="rId8"/>
                        </a:rPr>
                        <a:t>removeAll(Collection c)</a:t>
                      </a:r>
                      <a:endParaRPr lang="en-US" sz="1100">
                        <a:effectLst/>
                      </a:endParaRP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100" dirty="0">
                          <a:effectLst/>
                        </a:rPr>
                        <a:t>This method is used to remove all the objects mentioned in the given collection from the collection.</a:t>
                      </a:r>
                    </a:p>
                  </a:txBody>
                  <a:tcPr marL="54063" marR="54063" marT="27032" marB="2703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51586622"/>
                  </a:ext>
                </a:extLst>
              </a:tr>
            </a:tbl>
          </a:graphicData>
        </a:graphic>
      </p:graphicFrame>
    </p:spTree>
    <p:extLst>
      <p:ext uri="{BB962C8B-B14F-4D97-AF65-F5344CB8AC3E}">
        <p14:creationId xmlns:p14="http://schemas.microsoft.com/office/powerpoint/2010/main" val="2687557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Iterator interface</a:t>
            </a:r>
          </a:p>
          <a:p>
            <a:r>
              <a:rPr lang="en-US" dirty="0"/>
              <a:t>	Iterator interface provides the facility of iterating the elements in a forward direction only. </a:t>
            </a:r>
          </a:p>
          <a:p>
            <a:r>
              <a:rPr lang="en-US" dirty="0"/>
              <a:t>Methods of Iterator interface</a:t>
            </a:r>
          </a:p>
          <a:p>
            <a:r>
              <a:rPr lang="en-US" dirty="0"/>
              <a:t>	There are only three methods in the Iterator interface.</a:t>
            </a:r>
          </a:p>
          <a:p>
            <a:endParaRPr lang="en-US" dirty="0"/>
          </a:p>
          <a:p>
            <a:endParaRPr lang="en-US" dirty="0"/>
          </a:p>
        </p:txBody>
      </p:sp>
      <p:graphicFrame>
        <p:nvGraphicFramePr>
          <p:cNvPr id="2" name="Table 1">
            <a:extLst>
              <a:ext uri="{FF2B5EF4-FFF2-40B4-BE49-F238E27FC236}">
                <a16:creationId xmlns:a16="http://schemas.microsoft.com/office/drawing/2014/main" id="{7FEDAF18-254F-9BDD-5FBE-362952248159}"/>
              </a:ext>
            </a:extLst>
          </p:cNvPr>
          <p:cNvGraphicFramePr>
            <a:graphicFrameLocks noGrp="1"/>
          </p:cNvGraphicFramePr>
          <p:nvPr>
            <p:extLst>
              <p:ext uri="{D42A27DB-BD31-4B8C-83A1-F6EECF244321}">
                <p14:modId xmlns:p14="http://schemas.microsoft.com/office/powerpoint/2010/main" val="2763062038"/>
              </p:ext>
            </p:extLst>
          </p:nvPr>
        </p:nvGraphicFramePr>
        <p:xfrm>
          <a:off x="1435100" y="3259055"/>
          <a:ext cx="9911325" cy="3173704"/>
        </p:xfrm>
        <a:graphic>
          <a:graphicData uri="http://schemas.openxmlformats.org/drawingml/2006/table">
            <a:tbl>
              <a:tblPr/>
              <a:tblGrid>
                <a:gridCol w="3303775">
                  <a:extLst>
                    <a:ext uri="{9D8B030D-6E8A-4147-A177-3AD203B41FA5}">
                      <a16:colId xmlns:a16="http://schemas.microsoft.com/office/drawing/2014/main" val="3173581763"/>
                    </a:ext>
                  </a:extLst>
                </a:gridCol>
                <a:gridCol w="3303775">
                  <a:extLst>
                    <a:ext uri="{9D8B030D-6E8A-4147-A177-3AD203B41FA5}">
                      <a16:colId xmlns:a16="http://schemas.microsoft.com/office/drawing/2014/main" val="3968734962"/>
                    </a:ext>
                  </a:extLst>
                </a:gridCol>
                <a:gridCol w="3303775">
                  <a:extLst>
                    <a:ext uri="{9D8B030D-6E8A-4147-A177-3AD203B41FA5}">
                      <a16:colId xmlns:a16="http://schemas.microsoft.com/office/drawing/2014/main" val="1506922583"/>
                    </a:ext>
                  </a:extLst>
                </a:gridCol>
              </a:tblGrid>
              <a:tr h="291315">
                <a:tc>
                  <a:txBody>
                    <a:bodyPr/>
                    <a:lstStyle/>
                    <a:p>
                      <a:r>
                        <a:rPr lang="en-US" dirty="0"/>
                        <a:t>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57562223"/>
                  </a:ext>
                </a:extLst>
              </a:tr>
              <a:tr h="946772">
                <a:tc>
                  <a:txBody>
                    <a:bodyPr/>
                    <a:lstStyle/>
                    <a:p>
                      <a:r>
                        <a:rPr lang="en-US"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public boolean hasNext()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It returns true if the iterator has more elements otherwise it returns 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5638637"/>
                  </a:ext>
                </a:extLst>
              </a:tr>
              <a:tr h="946772">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public Object next()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It returns the element and moves the cursor pointer to the next element.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3337214"/>
                  </a:ext>
                </a:extLst>
              </a:tr>
              <a:tr h="728286">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public void remove()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It removes the last elements returned by the iterator. It is less used.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72663612"/>
                  </a:ext>
                </a:extLst>
              </a:tr>
            </a:tbl>
          </a:graphicData>
        </a:graphic>
      </p:graphicFrame>
    </p:spTree>
    <p:extLst>
      <p:ext uri="{BB962C8B-B14F-4D97-AF65-F5344CB8AC3E}">
        <p14:creationId xmlns:p14="http://schemas.microsoft.com/office/powerpoint/2010/main" val="24547429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err="1"/>
              <a:t>Iterable</a:t>
            </a:r>
            <a:r>
              <a:rPr lang="en-US" b="1" dirty="0"/>
              <a:t> Interface</a:t>
            </a:r>
          </a:p>
          <a:p>
            <a:r>
              <a:rPr lang="en-US" dirty="0"/>
              <a:t>	The </a:t>
            </a:r>
            <a:r>
              <a:rPr lang="en-US" dirty="0" err="1"/>
              <a:t>Iterable</a:t>
            </a:r>
            <a:r>
              <a:rPr lang="en-US" dirty="0"/>
              <a:t> interface is the root interface for all the collection classes. The Collection interface extends the </a:t>
            </a:r>
            <a:r>
              <a:rPr lang="en-US" dirty="0" err="1"/>
              <a:t>Iterable</a:t>
            </a:r>
            <a:r>
              <a:rPr lang="en-US" dirty="0"/>
              <a:t> interface and therefore all the subclasses of Collection interface also implement the </a:t>
            </a:r>
            <a:r>
              <a:rPr lang="en-US" dirty="0" err="1"/>
              <a:t>Iterable</a:t>
            </a:r>
            <a:r>
              <a:rPr lang="en-US" dirty="0"/>
              <a:t> interface.</a:t>
            </a:r>
          </a:p>
          <a:p>
            <a:r>
              <a:rPr lang="en-US" dirty="0"/>
              <a:t>	It contains only one abstract method. i.e.,</a:t>
            </a:r>
          </a:p>
          <a:p>
            <a:r>
              <a:rPr lang="en-US" dirty="0"/>
              <a:t>	Iterator&lt;T&gt; iterator() </a:t>
            </a:r>
          </a:p>
          <a:p>
            <a:r>
              <a:rPr lang="en-US" dirty="0"/>
              <a:t>It returns the iterator over the elements of type T.</a:t>
            </a:r>
          </a:p>
          <a:p>
            <a:r>
              <a:rPr lang="en-US" b="1" dirty="0"/>
              <a:t>Collection Interface</a:t>
            </a:r>
          </a:p>
          <a:p>
            <a:r>
              <a:rPr lang="en-US" dirty="0"/>
              <a:t>	The Collection interface is the interface which is implemented by all the classes in the collection framework. It declares the methods that every collection will have. In other words, we can say that the Collection interface builds the foundation on which the collection framework depends.</a:t>
            </a:r>
          </a:p>
          <a:p>
            <a:r>
              <a:rPr lang="en-US" dirty="0"/>
              <a:t>	Some of the methods of Collection interface are Boolean add ( Object obj), Boolean </a:t>
            </a:r>
            <a:r>
              <a:rPr lang="en-US" dirty="0" err="1"/>
              <a:t>addAll</a:t>
            </a:r>
            <a:r>
              <a:rPr lang="en-US" dirty="0"/>
              <a:t> ( Collection c), void clear(), etc. which are implemented by all the subclasses of Collection interface.</a:t>
            </a:r>
          </a:p>
        </p:txBody>
      </p:sp>
    </p:spTree>
    <p:extLst>
      <p:ext uri="{BB962C8B-B14F-4D97-AF65-F5344CB8AC3E}">
        <p14:creationId xmlns:p14="http://schemas.microsoft.com/office/powerpoint/2010/main" val="295060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List Interface</a:t>
            </a:r>
          </a:p>
          <a:p>
            <a:r>
              <a:rPr lang="en-US" dirty="0"/>
              <a:t>	List interface is the child interface of Collection interface. It inhibits a list type data structure in which we can store the ordered collection of objects. It can have duplicate values.</a:t>
            </a:r>
          </a:p>
          <a:p>
            <a:r>
              <a:rPr lang="en-US" dirty="0"/>
              <a:t>List interface is implemented by the classes </a:t>
            </a:r>
            <a:r>
              <a:rPr lang="en-US" dirty="0" err="1"/>
              <a:t>ArrayList</a:t>
            </a:r>
            <a:r>
              <a:rPr lang="en-US" dirty="0"/>
              <a:t>, LinkedList, Vector, and Stack.</a:t>
            </a:r>
          </a:p>
          <a:p>
            <a:r>
              <a:rPr lang="en-US" dirty="0"/>
              <a:t>To instantiate the List interface, we must use :</a:t>
            </a:r>
          </a:p>
          <a:p>
            <a:r>
              <a:rPr lang="en-US" dirty="0"/>
              <a:t>    List &lt;data-type&gt; list1= new </a:t>
            </a:r>
            <a:r>
              <a:rPr lang="en-US" dirty="0" err="1"/>
              <a:t>ArrayList</a:t>
            </a:r>
            <a:r>
              <a:rPr lang="en-US" dirty="0"/>
              <a:t>();  </a:t>
            </a:r>
          </a:p>
          <a:p>
            <a:r>
              <a:rPr lang="en-US" dirty="0"/>
              <a:t>    List &lt;data-type&gt; list2 = new LinkedList();  </a:t>
            </a:r>
          </a:p>
          <a:p>
            <a:r>
              <a:rPr lang="en-US" dirty="0"/>
              <a:t>    List &lt;data-type&gt; list3 = new Vector();  </a:t>
            </a:r>
          </a:p>
          <a:p>
            <a:r>
              <a:rPr lang="en-US" dirty="0"/>
              <a:t>    List &lt;data-type&gt; list4 = new Stack();  </a:t>
            </a:r>
          </a:p>
          <a:p>
            <a:r>
              <a:rPr lang="en-US" dirty="0"/>
              <a:t>There are various methods in List interface that can be used to insert, delete, and access the elements from the list.</a:t>
            </a:r>
          </a:p>
        </p:txBody>
      </p:sp>
    </p:spTree>
    <p:extLst>
      <p:ext uri="{BB962C8B-B14F-4D97-AF65-F5344CB8AC3E}">
        <p14:creationId xmlns:p14="http://schemas.microsoft.com/office/powerpoint/2010/main" val="1547525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fontScale="92500" lnSpcReduction="10000"/>
          </a:bodyPr>
          <a:lstStyle/>
          <a:p>
            <a:r>
              <a:rPr lang="en-US" b="1" dirty="0" err="1"/>
              <a:t>ArrayList</a:t>
            </a:r>
            <a:endParaRPr lang="en-US" b="1" dirty="0"/>
          </a:p>
          <a:p>
            <a:r>
              <a:rPr lang="en-US" dirty="0"/>
              <a:t>	The </a:t>
            </a:r>
            <a:r>
              <a:rPr lang="en-US" dirty="0" err="1"/>
              <a:t>ArrayList</a:t>
            </a:r>
            <a:r>
              <a:rPr lang="en-US" dirty="0"/>
              <a:t> class implements the List interface. It uses a dynamic array to store the duplicate element of different data types. The </a:t>
            </a:r>
            <a:r>
              <a:rPr lang="en-US" dirty="0" err="1"/>
              <a:t>ArrayList</a:t>
            </a:r>
            <a:r>
              <a:rPr lang="en-US" dirty="0"/>
              <a:t> class maintains the insertion order and is non-synchronized. The elements stored in the </a:t>
            </a:r>
            <a:r>
              <a:rPr lang="en-US" dirty="0" err="1"/>
              <a:t>ArrayList</a:t>
            </a:r>
            <a:r>
              <a:rPr lang="en-US" dirty="0"/>
              <a:t> class can be randomly accessed. Consider the following example.</a:t>
            </a:r>
          </a:p>
          <a:p>
            <a:r>
              <a:rPr lang="en-US" dirty="0"/>
              <a:t>	</a:t>
            </a:r>
          </a:p>
          <a:p>
            <a:r>
              <a:rPr lang="en-US" dirty="0"/>
              <a:t>	</a:t>
            </a:r>
            <a:r>
              <a:rPr lang="en-US" dirty="0" err="1"/>
              <a:t>ArrayList</a:t>
            </a:r>
            <a:r>
              <a:rPr lang="en-US" dirty="0"/>
              <a:t>&lt;String&gt; list=new </a:t>
            </a:r>
            <a:r>
              <a:rPr lang="en-US" dirty="0" err="1"/>
              <a:t>ArrayList</a:t>
            </a:r>
            <a:r>
              <a:rPr lang="en-US" dirty="0"/>
              <a:t>&lt;String&gt;();//Creating </a:t>
            </a:r>
            <a:r>
              <a:rPr lang="en-US" dirty="0" err="1"/>
              <a:t>arraylist</a:t>
            </a:r>
            <a:r>
              <a:rPr lang="en-US" dirty="0"/>
              <a:t>  </a:t>
            </a:r>
          </a:p>
          <a:p>
            <a:r>
              <a:rPr lang="en-US" dirty="0"/>
              <a:t>	</a:t>
            </a:r>
            <a:r>
              <a:rPr lang="en-US" dirty="0" err="1"/>
              <a:t>list.add</a:t>
            </a:r>
            <a:r>
              <a:rPr lang="en-US" dirty="0"/>
              <a:t>("Ravi");//Adding object in </a:t>
            </a:r>
            <a:r>
              <a:rPr lang="en-US" dirty="0" err="1"/>
              <a:t>arraylist</a:t>
            </a:r>
            <a:r>
              <a:rPr lang="en-US" dirty="0"/>
              <a:t>  </a:t>
            </a:r>
          </a:p>
          <a:p>
            <a:r>
              <a:rPr lang="en-US" dirty="0"/>
              <a:t>	</a:t>
            </a:r>
            <a:r>
              <a:rPr lang="en-US" dirty="0" err="1"/>
              <a:t>list.add</a:t>
            </a:r>
            <a:r>
              <a:rPr lang="en-US" dirty="0"/>
              <a:t>("Vijay");  </a:t>
            </a:r>
          </a:p>
          <a:p>
            <a:r>
              <a:rPr lang="en-US" dirty="0"/>
              <a:t>	</a:t>
            </a:r>
            <a:r>
              <a:rPr lang="en-US" dirty="0" err="1"/>
              <a:t>list.add</a:t>
            </a:r>
            <a:r>
              <a:rPr lang="en-US" dirty="0"/>
              <a:t>("Ravi");  </a:t>
            </a:r>
          </a:p>
          <a:p>
            <a:r>
              <a:rPr lang="en-US" dirty="0"/>
              <a:t>	</a:t>
            </a:r>
            <a:r>
              <a:rPr lang="en-US" dirty="0" err="1"/>
              <a:t>list.add</a:t>
            </a:r>
            <a:r>
              <a:rPr lang="en-US" dirty="0"/>
              <a:t>("Ajay");  </a:t>
            </a:r>
          </a:p>
          <a:p>
            <a:r>
              <a:rPr lang="en-US" dirty="0"/>
              <a:t>	//Traversing list through Iterator  </a:t>
            </a:r>
          </a:p>
          <a:p>
            <a:r>
              <a:rPr lang="en-US" dirty="0"/>
              <a:t>	Iterator </a:t>
            </a:r>
            <a:r>
              <a:rPr lang="en-US" dirty="0" err="1"/>
              <a:t>itr</a:t>
            </a:r>
            <a:r>
              <a:rPr lang="en-US" dirty="0"/>
              <a:t>=</a:t>
            </a:r>
            <a:r>
              <a:rPr lang="en-US" dirty="0" err="1"/>
              <a:t>list.iterator</a:t>
            </a:r>
            <a:r>
              <a:rPr lang="en-US" dirty="0"/>
              <a:t>();  </a:t>
            </a:r>
          </a:p>
          <a:p>
            <a:r>
              <a:rPr lang="en-US" dirty="0"/>
              <a:t>	while(</a:t>
            </a:r>
            <a:r>
              <a:rPr lang="en-US" dirty="0" err="1"/>
              <a:t>itr.hasNext</a:t>
            </a:r>
            <a:r>
              <a:rPr lang="en-US" dirty="0"/>
              <a:t>()){  </a:t>
            </a:r>
          </a:p>
          <a:p>
            <a:r>
              <a:rPr lang="en-US" dirty="0"/>
              <a:t>		</a:t>
            </a:r>
            <a:r>
              <a:rPr lang="en-US" dirty="0" err="1"/>
              <a:t>System.out.println</a:t>
            </a:r>
            <a:r>
              <a:rPr lang="en-US" dirty="0"/>
              <a:t>(</a:t>
            </a:r>
            <a:r>
              <a:rPr lang="en-US" dirty="0" err="1"/>
              <a:t>itr.next</a:t>
            </a:r>
            <a:r>
              <a:rPr lang="en-US" dirty="0"/>
              <a:t>());  </a:t>
            </a:r>
          </a:p>
          <a:p>
            <a:r>
              <a:rPr lang="en-US" dirty="0"/>
              <a:t>	} </a:t>
            </a:r>
          </a:p>
        </p:txBody>
      </p:sp>
    </p:spTree>
    <p:extLst>
      <p:ext uri="{BB962C8B-B14F-4D97-AF65-F5344CB8AC3E}">
        <p14:creationId xmlns:p14="http://schemas.microsoft.com/office/powerpoint/2010/main" val="1501338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LinkedList</a:t>
            </a:r>
          </a:p>
          <a:p>
            <a:r>
              <a:rPr lang="en-US" dirty="0"/>
              <a:t>	LinkedList implements the Collection interface. It uses a doubly linked list internally to store the elements. It can store the duplicate elements. It maintains the insertion order and is not synchronized. In LinkedList, the manipulation is fast because no shifting is required.</a:t>
            </a:r>
          </a:p>
          <a:p>
            <a:r>
              <a:rPr lang="en-US" b="1" dirty="0"/>
              <a:t>Vector</a:t>
            </a:r>
          </a:p>
          <a:p>
            <a:r>
              <a:rPr lang="en-US" dirty="0"/>
              <a:t>	Vector uses a dynamic array to store the data elements. It is similar to </a:t>
            </a:r>
            <a:r>
              <a:rPr lang="en-US" dirty="0" err="1"/>
              <a:t>ArrayList</a:t>
            </a:r>
            <a:r>
              <a:rPr lang="en-US" dirty="0"/>
              <a:t>. However, It is synchronized and contains many methods that are not the part of Collection framework.</a:t>
            </a:r>
          </a:p>
          <a:p>
            <a:r>
              <a:rPr lang="en-US" b="1" dirty="0"/>
              <a:t>Stack</a:t>
            </a:r>
          </a:p>
          <a:p>
            <a:r>
              <a:rPr lang="en-US" dirty="0"/>
              <a:t>	The stack is the subclass of Vector. It implements the last-in-first-out data structure, i.e., Stack. The stack contains all of the methods of Vector class and also provides its methods like </a:t>
            </a:r>
            <a:r>
              <a:rPr lang="en-US" dirty="0" err="1"/>
              <a:t>boolean</a:t>
            </a:r>
            <a:r>
              <a:rPr lang="en-US" dirty="0"/>
              <a:t> push(), </a:t>
            </a:r>
            <a:r>
              <a:rPr lang="en-US" dirty="0" err="1"/>
              <a:t>boolean</a:t>
            </a:r>
            <a:r>
              <a:rPr lang="en-US" dirty="0"/>
              <a:t> peek(), </a:t>
            </a:r>
            <a:r>
              <a:rPr lang="en-US" dirty="0" err="1"/>
              <a:t>boolean</a:t>
            </a:r>
            <a:r>
              <a:rPr lang="en-US" dirty="0"/>
              <a:t> push(object o), which defines its properties.</a:t>
            </a:r>
          </a:p>
        </p:txBody>
      </p:sp>
    </p:spTree>
    <p:extLst>
      <p:ext uri="{BB962C8B-B14F-4D97-AF65-F5344CB8AC3E}">
        <p14:creationId xmlns:p14="http://schemas.microsoft.com/office/powerpoint/2010/main" val="26295811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endParaRPr lang="en-US" dirty="0"/>
          </a:p>
        </p:txBody>
      </p:sp>
      <p:graphicFrame>
        <p:nvGraphicFramePr>
          <p:cNvPr id="2" name="Table 1">
            <a:extLst>
              <a:ext uri="{FF2B5EF4-FFF2-40B4-BE49-F238E27FC236}">
                <a16:creationId xmlns:a16="http://schemas.microsoft.com/office/drawing/2014/main" id="{EDBD7142-37C3-D3ED-EA91-389343199D15}"/>
              </a:ext>
            </a:extLst>
          </p:cNvPr>
          <p:cNvGraphicFramePr>
            <a:graphicFrameLocks noGrp="1"/>
          </p:cNvGraphicFramePr>
          <p:nvPr>
            <p:extLst>
              <p:ext uri="{D42A27DB-BD31-4B8C-83A1-F6EECF244321}">
                <p14:modId xmlns:p14="http://schemas.microsoft.com/office/powerpoint/2010/main" val="2130763453"/>
              </p:ext>
            </p:extLst>
          </p:nvPr>
        </p:nvGraphicFramePr>
        <p:xfrm>
          <a:off x="1045029" y="1819469"/>
          <a:ext cx="10101941" cy="4352733"/>
        </p:xfrm>
        <a:graphic>
          <a:graphicData uri="http://schemas.openxmlformats.org/drawingml/2006/table">
            <a:tbl>
              <a:tblPr/>
              <a:tblGrid>
                <a:gridCol w="5789104">
                  <a:extLst>
                    <a:ext uri="{9D8B030D-6E8A-4147-A177-3AD203B41FA5}">
                      <a16:colId xmlns:a16="http://schemas.microsoft.com/office/drawing/2014/main" val="530885462"/>
                    </a:ext>
                  </a:extLst>
                </a:gridCol>
                <a:gridCol w="4312837">
                  <a:extLst>
                    <a:ext uri="{9D8B030D-6E8A-4147-A177-3AD203B41FA5}">
                      <a16:colId xmlns:a16="http://schemas.microsoft.com/office/drawing/2014/main" val="273454667"/>
                    </a:ext>
                  </a:extLst>
                </a:gridCol>
              </a:tblGrid>
              <a:tr h="267861">
                <a:tc>
                  <a:txBody>
                    <a:bodyPr/>
                    <a:lstStyle/>
                    <a:p>
                      <a:r>
                        <a:rPr lang="en-US" sz="1300"/>
                        <a:t>ArrayList</a:t>
                      </a:r>
                    </a:p>
                  </a:txBody>
                  <a:tcPr marL="66944" marR="66944" marT="33472" marB="33472" anchor="ctr">
                    <a:lnL>
                      <a:noFill/>
                    </a:lnL>
                    <a:lnR>
                      <a:noFill/>
                    </a:lnR>
                    <a:lnT>
                      <a:noFill/>
                    </a:lnT>
                    <a:lnB>
                      <a:noFill/>
                    </a:lnB>
                    <a:noFill/>
                  </a:tcPr>
                </a:tc>
                <a:tc>
                  <a:txBody>
                    <a:bodyPr/>
                    <a:lstStyle/>
                    <a:p>
                      <a:r>
                        <a:rPr lang="en-US" sz="1300"/>
                        <a:t>LinkedList</a:t>
                      </a:r>
                    </a:p>
                  </a:txBody>
                  <a:tcPr marL="66944" marR="66944" marT="33472" marB="33472" anchor="ctr">
                    <a:lnL>
                      <a:noFill/>
                    </a:lnL>
                    <a:lnR>
                      <a:noFill/>
                    </a:lnR>
                    <a:lnT>
                      <a:noFill/>
                    </a:lnT>
                    <a:lnB>
                      <a:noFill/>
                    </a:lnB>
                    <a:noFill/>
                  </a:tcPr>
                </a:tc>
                <a:extLst>
                  <a:ext uri="{0D108BD9-81ED-4DB2-BD59-A6C34878D82A}">
                    <a16:rowId xmlns:a16="http://schemas.microsoft.com/office/drawing/2014/main" val="3908708363"/>
                  </a:ext>
                </a:extLst>
              </a:tr>
              <a:tr h="468756">
                <a:tc>
                  <a:txBody>
                    <a:bodyPr/>
                    <a:lstStyle/>
                    <a:p>
                      <a:r>
                        <a:rPr lang="en-US" sz="1300"/>
                        <a:t>1) ArrayList internally uses a </a:t>
                      </a:r>
                      <a:r>
                        <a:rPr lang="en-US" sz="1300" b="1"/>
                        <a:t>dynamic array</a:t>
                      </a:r>
                      <a:r>
                        <a:rPr lang="en-US" sz="1300"/>
                        <a:t> to store the elements.</a:t>
                      </a:r>
                    </a:p>
                  </a:txBody>
                  <a:tcPr marL="66944" marR="66944" marT="33472" marB="33472" anchor="ctr">
                    <a:lnL>
                      <a:noFill/>
                    </a:lnL>
                    <a:lnR>
                      <a:noFill/>
                    </a:lnR>
                    <a:lnT>
                      <a:noFill/>
                    </a:lnT>
                    <a:lnB>
                      <a:noFill/>
                    </a:lnB>
                    <a:noFill/>
                  </a:tcPr>
                </a:tc>
                <a:tc>
                  <a:txBody>
                    <a:bodyPr/>
                    <a:lstStyle/>
                    <a:p>
                      <a:r>
                        <a:rPr lang="en-US" sz="1300"/>
                        <a:t>LinkedList internally uses a </a:t>
                      </a:r>
                      <a:r>
                        <a:rPr lang="en-US" sz="1300" b="1"/>
                        <a:t>doubly linked list</a:t>
                      </a:r>
                      <a:r>
                        <a:rPr lang="en-US" sz="1300"/>
                        <a:t> to store the elements.</a:t>
                      </a:r>
                    </a:p>
                  </a:txBody>
                  <a:tcPr marL="66944" marR="66944" marT="33472" marB="33472" anchor="ctr">
                    <a:lnL>
                      <a:noFill/>
                    </a:lnL>
                    <a:lnR>
                      <a:noFill/>
                    </a:lnR>
                    <a:lnT>
                      <a:noFill/>
                    </a:lnT>
                    <a:lnB>
                      <a:noFill/>
                    </a:lnB>
                    <a:noFill/>
                  </a:tcPr>
                </a:tc>
                <a:extLst>
                  <a:ext uri="{0D108BD9-81ED-4DB2-BD59-A6C34878D82A}">
                    <a16:rowId xmlns:a16="http://schemas.microsoft.com/office/drawing/2014/main" val="4258840065"/>
                  </a:ext>
                </a:extLst>
              </a:tr>
              <a:tr h="870546">
                <a:tc>
                  <a:txBody>
                    <a:bodyPr/>
                    <a:lstStyle/>
                    <a:p>
                      <a:r>
                        <a:rPr lang="en-US" sz="1300"/>
                        <a:t>2) Manipulation with ArrayList is </a:t>
                      </a:r>
                      <a:r>
                        <a:rPr lang="en-US" sz="1300" b="1"/>
                        <a:t>slow</a:t>
                      </a:r>
                      <a:r>
                        <a:rPr lang="en-US" sz="1300"/>
                        <a:t> because it internally uses an array. If any element is removed from the array, all the other elements are shifted in memory.</a:t>
                      </a:r>
                    </a:p>
                  </a:txBody>
                  <a:tcPr marL="66944" marR="66944" marT="33472" marB="33472" anchor="ctr">
                    <a:lnL>
                      <a:noFill/>
                    </a:lnL>
                    <a:lnR>
                      <a:noFill/>
                    </a:lnR>
                    <a:lnT>
                      <a:noFill/>
                    </a:lnT>
                    <a:lnB>
                      <a:noFill/>
                    </a:lnB>
                    <a:noFill/>
                  </a:tcPr>
                </a:tc>
                <a:tc>
                  <a:txBody>
                    <a:bodyPr/>
                    <a:lstStyle/>
                    <a:p>
                      <a:r>
                        <a:rPr lang="en-US" sz="1300"/>
                        <a:t>Manipulation with LinkedList is </a:t>
                      </a:r>
                      <a:r>
                        <a:rPr lang="en-US" sz="1300" b="1"/>
                        <a:t>faster</a:t>
                      </a:r>
                      <a:r>
                        <a:rPr lang="en-US" sz="1300"/>
                        <a:t> than ArrayList because it uses a doubly linked list, so no bit shifting is required in memory.</a:t>
                      </a:r>
                    </a:p>
                  </a:txBody>
                  <a:tcPr marL="66944" marR="66944" marT="33472" marB="33472" anchor="ctr">
                    <a:lnL>
                      <a:noFill/>
                    </a:lnL>
                    <a:lnR>
                      <a:noFill/>
                    </a:lnR>
                    <a:lnT>
                      <a:noFill/>
                    </a:lnT>
                    <a:lnB>
                      <a:noFill/>
                    </a:lnB>
                    <a:noFill/>
                  </a:tcPr>
                </a:tc>
                <a:extLst>
                  <a:ext uri="{0D108BD9-81ED-4DB2-BD59-A6C34878D82A}">
                    <a16:rowId xmlns:a16="http://schemas.microsoft.com/office/drawing/2014/main" val="2062429243"/>
                  </a:ext>
                </a:extLst>
              </a:tr>
              <a:tr h="669651">
                <a:tc>
                  <a:txBody>
                    <a:bodyPr/>
                    <a:lstStyle/>
                    <a:p>
                      <a:r>
                        <a:rPr lang="en-US" sz="1300"/>
                        <a:t>3) An ArrayList class can </a:t>
                      </a:r>
                      <a:r>
                        <a:rPr lang="en-US" sz="1300" b="1"/>
                        <a:t>act as a list</a:t>
                      </a:r>
                      <a:r>
                        <a:rPr lang="en-US" sz="1300"/>
                        <a:t> only because it implements List only.</a:t>
                      </a:r>
                    </a:p>
                  </a:txBody>
                  <a:tcPr marL="66944" marR="66944" marT="33472" marB="33472" anchor="ctr">
                    <a:lnL>
                      <a:noFill/>
                    </a:lnL>
                    <a:lnR>
                      <a:noFill/>
                    </a:lnR>
                    <a:lnT>
                      <a:noFill/>
                    </a:lnT>
                    <a:lnB>
                      <a:noFill/>
                    </a:lnB>
                    <a:noFill/>
                  </a:tcPr>
                </a:tc>
                <a:tc>
                  <a:txBody>
                    <a:bodyPr/>
                    <a:lstStyle/>
                    <a:p>
                      <a:r>
                        <a:rPr lang="en-US" sz="1300"/>
                        <a:t>LinkedList class can </a:t>
                      </a:r>
                      <a:r>
                        <a:rPr lang="en-US" sz="1300" b="1"/>
                        <a:t>act as a list and queue</a:t>
                      </a:r>
                      <a:r>
                        <a:rPr lang="en-US" sz="1300"/>
                        <a:t> both because it implements List and Deque interfaces.</a:t>
                      </a:r>
                    </a:p>
                  </a:txBody>
                  <a:tcPr marL="66944" marR="66944" marT="33472" marB="33472" anchor="ctr">
                    <a:lnL>
                      <a:noFill/>
                    </a:lnL>
                    <a:lnR>
                      <a:noFill/>
                    </a:lnR>
                    <a:lnT>
                      <a:noFill/>
                    </a:lnT>
                    <a:lnB>
                      <a:noFill/>
                    </a:lnB>
                    <a:noFill/>
                  </a:tcPr>
                </a:tc>
                <a:extLst>
                  <a:ext uri="{0D108BD9-81ED-4DB2-BD59-A6C34878D82A}">
                    <a16:rowId xmlns:a16="http://schemas.microsoft.com/office/drawing/2014/main" val="3180589398"/>
                  </a:ext>
                </a:extLst>
              </a:tr>
              <a:tr h="468756">
                <a:tc>
                  <a:txBody>
                    <a:bodyPr/>
                    <a:lstStyle/>
                    <a:p>
                      <a:r>
                        <a:rPr lang="en-US" sz="1300"/>
                        <a:t>4) ArrayList is </a:t>
                      </a:r>
                      <a:r>
                        <a:rPr lang="en-US" sz="1300" b="1"/>
                        <a:t>better for storing and accessing</a:t>
                      </a:r>
                      <a:r>
                        <a:rPr lang="en-US" sz="1300"/>
                        <a:t> data.</a:t>
                      </a:r>
                    </a:p>
                  </a:txBody>
                  <a:tcPr marL="66944" marR="66944" marT="33472" marB="33472" anchor="ctr">
                    <a:lnL>
                      <a:noFill/>
                    </a:lnL>
                    <a:lnR>
                      <a:noFill/>
                    </a:lnR>
                    <a:lnT>
                      <a:noFill/>
                    </a:lnT>
                    <a:lnB>
                      <a:noFill/>
                    </a:lnB>
                    <a:noFill/>
                  </a:tcPr>
                </a:tc>
                <a:tc>
                  <a:txBody>
                    <a:bodyPr/>
                    <a:lstStyle/>
                    <a:p>
                      <a:r>
                        <a:rPr lang="en-US" sz="1300"/>
                        <a:t>LinkedList is </a:t>
                      </a:r>
                      <a:r>
                        <a:rPr lang="en-US" sz="1300" b="1"/>
                        <a:t>better for manipulating</a:t>
                      </a:r>
                      <a:r>
                        <a:rPr lang="en-US" sz="1300"/>
                        <a:t> data.</a:t>
                      </a:r>
                    </a:p>
                  </a:txBody>
                  <a:tcPr marL="66944" marR="66944" marT="33472" marB="33472" anchor="ctr">
                    <a:lnL>
                      <a:noFill/>
                    </a:lnL>
                    <a:lnR>
                      <a:noFill/>
                    </a:lnR>
                    <a:lnT>
                      <a:noFill/>
                    </a:lnT>
                    <a:lnB>
                      <a:noFill/>
                    </a:lnB>
                    <a:noFill/>
                  </a:tcPr>
                </a:tc>
                <a:extLst>
                  <a:ext uri="{0D108BD9-81ED-4DB2-BD59-A6C34878D82A}">
                    <a16:rowId xmlns:a16="http://schemas.microsoft.com/office/drawing/2014/main" val="631095267"/>
                  </a:ext>
                </a:extLst>
              </a:tr>
              <a:tr h="468756">
                <a:tc>
                  <a:txBody>
                    <a:bodyPr/>
                    <a:lstStyle/>
                    <a:p>
                      <a:r>
                        <a:rPr lang="en-US" sz="1300"/>
                        <a:t>5) The memory location for the elements of an ArrayList is contiguous.</a:t>
                      </a:r>
                    </a:p>
                  </a:txBody>
                  <a:tcPr marL="66944" marR="66944" marT="33472" marB="33472" anchor="ctr">
                    <a:lnL>
                      <a:noFill/>
                    </a:lnL>
                    <a:lnR>
                      <a:noFill/>
                    </a:lnR>
                    <a:lnT>
                      <a:noFill/>
                    </a:lnT>
                    <a:lnB>
                      <a:noFill/>
                    </a:lnB>
                    <a:noFill/>
                  </a:tcPr>
                </a:tc>
                <a:tc>
                  <a:txBody>
                    <a:bodyPr/>
                    <a:lstStyle/>
                    <a:p>
                      <a:r>
                        <a:rPr lang="en-US" sz="1300"/>
                        <a:t>The location for the elements of a linked list is not contagious. </a:t>
                      </a:r>
                    </a:p>
                  </a:txBody>
                  <a:tcPr marL="66944" marR="66944" marT="33472" marB="33472" anchor="ctr">
                    <a:lnL>
                      <a:noFill/>
                    </a:lnL>
                    <a:lnR>
                      <a:noFill/>
                    </a:lnR>
                    <a:lnT>
                      <a:noFill/>
                    </a:lnT>
                    <a:lnB>
                      <a:noFill/>
                    </a:lnB>
                    <a:noFill/>
                  </a:tcPr>
                </a:tc>
                <a:extLst>
                  <a:ext uri="{0D108BD9-81ED-4DB2-BD59-A6C34878D82A}">
                    <a16:rowId xmlns:a16="http://schemas.microsoft.com/office/drawing/2014/main" val="3002378339"/>
                  </a:ext>
                </a:extLst>
              </a:tr>
              <a:tr h="669651">
                <a:tc>
                  <a:txBody>
                    <a:bodyPr/>
                    <a:lstStyle/>
                    <a:p>
                      <a:r>
                        <a:rPr lang="en-US" sz="1300"/>
                        <a:t>6) Generally, when an ArrayList is initialized, a default capacity of 10 is assigned to the ArrayList.</a:t>
                      </a:r>
                    </a:p>
                  </a:txBody>
                  <a:tcPr marL="66944" marR="66944" marT="33472" marB="33472" anchor="ctr">
                    <a:lnL>
                      <a:noFill/>
                    </a:lnL>
                    <a:lnR>
                      <a:noFill/>
                    </a:lnR>
                    <a:lnT>
                      <a:noFill/>
                    </a:lnT>
                    <a:lnB>
                      <a:noFill/>
                    </a:lnB>
                    <a:noFill/>
                  </a:tcPr>
                </a:tc>
                <a:tc>
                  <a:txBody>
                    <a:bodyPr/>
                    <a:lstStyle/>
                    <a:p>
                      <a:r>
                        <a:rPr lang="en-US" sz="1300"/>
                        <a:t>There is no case of default capacity in a LinkedList. In LinkedList, an empty list is created when a LinkedList is initialized.</a:t>
                      </a:r>
                    </a:p>
                  </a:txBody>
                  <a:tcPr marL="66944" marR="66944" marT="33472" marB="33472" anchor="ctr">
                    <a:lnL>
                      <a:noFill/>
                    </a:lnL>
                    <a:lnR>
                      <a:noFill/>
                    </a:lnR>
                    <a:lnT>
                      <a:noFill/>
                    </a:lnT>
                    <a:lnB>
                      <a:noFill/>
                    </a:lnB>
                    <a:noFill/>
                  </a:tcPr>
                </a:tc>
                <a:extLst>
                  <a:ext uri="{0D108BD9-81ED-4DB2-BD59-A6C34878D82A}">
                    <a16:rowId xmlns:a16="http://schemas.microsoft.com/office/drawing/2014/main" val="2211120812"/>
                  </a:ext>
                </a:extLst>
              </a:tr>
              <a:tr h="468756">
                <a:tc>
                  <a:txBody>
                    <a:bodyPr/>
                    <a:lstStyle/>
                    <a:p>
                      <a:r>
                        <a:rPr lang="en-US" sz="1300" dirty="0"/>
                        <a:t>7) To be precise, an </a:t>
                      </a:r>
                      <a:r>
                        <a:rPr lang="en-US" sz="1300" dirty="0" err="1"/>
                        <a:t>ArrayList</a:t>
                      </a:r>
                      <a:r>
                        <a:rPr lang="en-US" sz="1300" dirty="0"/>
                        <a:t> is a resizable array.</a:t>
                      </a:r>
                    </a:p>
                  </a:txBody>
                  <a:tcPr marL="66944" marR="66944" marT="33472" marB="33472" anchor="ctr">
                    <a:lnL>
                      <a:noFill/>
                    </a:lnL>
                    <a:lnR>
                      <a:noFill/>
                    </a:lnR>
                    <a:lnT>
                      <a:noFill/>
                    </a:lnT>
                    <a:lnB>
                      <a:noFill/>
                    </a:lnB>
                    <a:noFill/>
                  </a:tcPr>
                </a:tc>
                <a:tc>
                  <a:txBody>
                    <a:bodyPr/>
                    <a:lstStyle/>
                    <a:p>
                      <a:r>
                        <a:rPr lang="en-US" sz="1300" dirty="0"/>
                        <a:t>LinkedList implements the doubly linked list of the list interface.</a:t>
                      </a:r>
                    </a:p>
                  </a:txBody>
                  <a:tcPr marL="66944" marR="66944" marT="33472" marB="33472" anchor="ctr">
                    <a:lnL>
                      <a:noFill/>
                    </a:lnL>
                    <a:lnR>
                      <a:noFill/>
                    </a:lnR>
                    <a:lnT>
                      <a:noFill/>
                    </a:lnT>
                    <a:lnB>
                      <a:noFill/>
                    </a:lnB>
                    <a:noFill/>
                  </a:tcPr>
                </a:tc>
                <a:extLst>
                  <a:ext uri="{0D108BD9-81ED-4DB2-BD59-A6C34878D82A}">
                    <a16:rowId xmlns:a16="http://schemas.microsoft.com/office/drawing/2014/main" val="3909975057"/>
                  </a:ext>
                </a:extLst>
              </a:tr>
            </a:tbl>
          </a:graphicData>
        </a:graphic>
      </p:graphicFrame>
    </p:spTree>
    <p:extLst>
      <p:ext uri="{BB962C8B-B14F-4D97-AF65-F5344CB8AC3E}">
        <p14:creationId xmlns:p14="http://schemas.microsoft.com/office/powerpoint/2010/main" val="1743691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fontScale="92500" lnSpcReduction="10000"/>
          </a:bodyPr>
          <a:lstStyle/>
          <a:p>
            <a:r>
              <a:rPr lang="en-US" b="1" dirty="0"/>
              <a:t>Set Interface</a:t>
            </a:r>
          </a:p>
          <a:p>
            <a:r>
              <a:rPr lang="en-US" dirty="0"/>
              <a:t>	Set Interface in Java is present in </a:t>
            </a:r>
            <a:r>
              <a:rPr lang="en-US" dirty="0" err="1"/>
              <a:t>java.util</a:t>
            </a:r>
            <a:r>
              <a:rPr lang="en-US" dirty="0"/>
              <a:t> package. It extends the Collection interface. It represents the unordered set of elements which doesn't allow us to store the duplicate items. We can store at most one null value in Set. Set is implemented by HashSet, </a:t>
            </a:r>
            <a:r>
              <a:rPr lang="en-US" dirty="0" err="1"/>
              <a:t>LinkedHashSet</a:t>
            </a:r>
            <a:r>
              <a:rPr lang="en-US" dirty="0"/>
              <a:t>, and </a:t>
            </a:r>
            <a:r>
              <a:rPr lang="en-US" dirty="0" err="1"/>
              <a:t>TreeSet</a:t>
            </a:r>
            <a:r>
              <a:rPr lang="en-US" dirty="0"/>
              <a:t>.</a:t>
            </a:r>
          </a:p>
          <a:p>
            <a:r>
              <a:rPr lang="en-US" dirty="0"/>
              <a:t>	    Set&lt;data-type&gt; s1 = new HashSet&lt;data-type&gt;();  </a:t>
            </a:r>
          </a:p>
          <a:p>
            <a:r>
              <a:rPr lang="en-US" dirty="0"/>
              <a:t>	    Set&lt;data-type&gt; s2 = new </a:t>
            </a:r>
            <a:r>
              <a:rPr lang="en-US" dirty="0" err="1"/>
              <a:t>LinkedHashSet</a:t>
            </a:r>
            <a:r>
              <a:rPr lang="en-US" dirty="0"/>
              <a:t>&lt;data-type&gt;();  </a:t>
            </a:r>
          </a:p>
          <a:p>
            <a:r>
              <a:rPr lang="en-US" dirty="0"/>
              <a:t>	    Set&lt;data-type&gt; s3 = new </a:t>
            </a:r>
            <a:r>
              <a:rPr lang="en-US" dirty="0" err="1"/>
              <a:t>TreeSet</a:t>
            </a:r>
            <a:r>
              <a:rPr lang="en-US" dirty="0"/>
              <a:t>&lt;data-type&gt;(); </a:t>
            </a:r>
          </a:p>
          <a:p>
            <a:r>
              <a:rPr lang="en-US" b="1" dirty="0"/>
              <a:t>HashSet</a:t>
            </a:r>
          </a:p>
          <a:p>
            <a:r>
              <a:rPr lang="en-US" dirty="0"/>
              <a:t>	HashSet class implements Set Interface. It represents the collection that uses a hash table for storage. Hashing is used to store the elements in the HashSet. It contains unique items. </a:t>
            </a:r>
          </a:p>
          <a:p>
            <a:r>
              <a:rPr lang="en-US" dirty="0"/>
              <a:t>HashSet&lt;String&gt; set=new HashSet&lt;String&gt;();  </a:t>
            </a:r>
          </a:p>
          <a:p>
            <a:r>
              <a:rPr lang="en-US" dirty="0" err="1"/>
              <a:t>set.add</a:t>
            </a:r>
            <a:r>
              <a:rPr lang="en-US" dirty="0"/>
              <a:t>("Ravi");  </a:t>
            </a:r>
          </a:p>
          <a:p>
            <a:r>
              <a:rPr lang="en-US" dirty="0" err="1"/>
              <a:t>set.add</a:t>
            </a:r>
            <a:r>
              <a:rPr lang="en-US" dirty="0"/>
              <a:t>("Vijay");  </a:t>
            </a:r>
          </a:p>
          <a:p>
            <a:r>
              <a:rPr lang="en-US" dirty="0" err="1"/>
              <a:t>set.add</a:t>
            </a:r>
            <a:r>
              <a:rPr lang="en-US" dirty="0"/>
              <a:t>("Ravi");  </a:t>
            </a:r>
          </a:p>
          <a:p>
            <a:r>
              <a:rPr lang="en-US" dirty="0" err="1"/>
              <a:t>set.add</a:t>
            </a:r>
            <a:r>
              <a:rPr lang="en-US" dirty="0"/>
              <a:t>("Ajay"); </a:t>
            </a:r>
          </a:p>
        </p:txBody>
      </p:sp>
    </p:spTree>
    <p:extLst>
      <p:ext uri="{BB962C8B-B14F-4D97-AF65-F5344CB8AC3E}">
        <p14:creationId xmlns:p14="http://schemas.microsoft.com/office/powerpoint/2010/main" val="655160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err="1"/>
              <a:t>LinkedHashSet</a:t>
            </a:r>
            <a:endParaRPr lang="en-US" b="1" dirty="0"/>
          </a:p>
          <a:p>
            <a:r>
              <a:rPr lang="en-US" dirty="0"/>
              <a:t>	</a:t>
            </a:r>
            <a:r>
              <a:rPr lang="en-US" dirty="0" err="1"/>
              <a:t>LinkedHashSet</a:t>
            </a:r>
            <a:r>
              <a:rPr lang="en-US" dirty="0"/>
              <a:t> class represents the LinkedList implementation of Set Interface. It extends the HashSet class and implements Set interface. Like HashSet, It also contains unique elements. It maintains the insertion order and permits null elements.</a:t>
            </a:r>
          </a:p>
          <a:p>
            <a:endParaRPr lang="en-US" dirty="0"/>
          </a:p>
          <a:p>
            <a:r>
              <a:rPr lang="en-US" b="1" dirty="0" err="1"/>
              <a:t>SortedSet</a:t>
            </a:r>
            <a:r>
              <a:rPr lang="en-US" b="1" dirty="0"/>
              <a:t> Interface</a:t>
            </a:r>
          </a:p>
          <a:p>
            <a:r>
              <a:rPr lang="en-US" dirty="0"/>
              <a:t>	</a:t>
            </a:r>
            <a:r>
              <a:rPr lang="en-US" dirty="0" err="1"/>
              <a:t>SortedSet</a:t>
            </a:r>
            <a:r>
              <a:rPr lang="en-US" dirty="0"/>
              <a:t> is the alternate of Set interface that provides a total ordering on its elements. The elements of the </a:t>
            </a:r>
            <a:r>
              <a:rPr lang="en-US" dirty="0" err="1"/>
              <a:t>SortedSet</a:t>
            </a:r>
            <a:r>
              <a:rPr lang="en-US" dirty="0"/>
              <a:t> are arranged in the increasing (ascending) order. The </a:t>
            </a:r>
            <a:r>
              <a:rPr lang="en-US" dirty="0" err="1"/>
              <a:t>SortedSet</a:t>
            </a:r>
            <a:r>
              <a:rPr lang="en-US" dirty="0"/>
              <a:t> provides the additional methods that inhibit the natural ordering of the elements.</a:t>
            </a:r>
          </a:p>
          <a:p>
            <a:r>
              <a:rPr lang="en-US" dirty="0"/>
              <a:t>	</a:t>
            </a:r>
            <a:r>
              <a:rPr lang="en-US" dirty="0" err="1"/>
              <a:t>SortedSet</a:t>
            </a:r>
            <a:r>
              <a:rPr lang="en-US" dirty="0"/>
              <a:t>&lt;data-type&gt; set = new </a:t>
            </a:r>
            <a:r>
              <a:rPr lang="en-US" dirty="0" err="1"/>
              <a:t>TreeSet</a:t>
            </a:r>
            <a:r>
              <a:rPr lang="en-US" dirty="0"/>
              <a:t>(); </a:t>
            </a:r>
          </a:p>
          <a:p>
            <a:endParaRPr lang="en-US" dirty="0"/>
          </a:p>
          <a:p>
            <a:r>
              <a:rPr lang="en-US" b="1" dirty="0" err="1"/>
              <a:t>TreeSet</a:t>
            </a:r>
            <a:endParaRPr lang="en-US" b="1" dirty="0"/>
          </a:p>
          <a:p>
            <a:r>
              <a:rPr lang="en-US" dirty="0"/>
              <a:t>	Java </a:t>
            </a:r>
            <a:r>
              <a:rPr lang="en-US" dirty="0" err="1"/>
              <a:t>TreeSet</a:t>
            </a:r>
            <a:r>
              <a:rPr lang="en-US" dirty="0"/>
              <a:t> class implements the Set interface that uses a tree for storage. Like HashSet, </a:t>
            </a:r>
            <a:r>
              <a:rPr lang="en-US" dirty="0" err="1"/>
              <a:t>TreeSet</a:t>
            </a:r>
            <a:r>
              <a:rPr lang="en-US" dirty="0"/>
              <a:t> also contains unique elements. However, the access and retrieval time of </a:t>
            </a:r>
            <a:r>
              <a:rPr lang="en-US" dirty="0" err="1"/>
              <a:t>TreeSet</a:t>
            </a:r>
            <a:r>
              <a:rPr lang="en-US" dirty="0"/>
              <a:t> is quite fast. The elements in </a:t>
            </a:r>
            <a:r>
              <a:rPr lang="en-US" dirty="0" err="1"/>
              <a:t>TreeSet</a:t>
            </a:r>
            <a:r>
              <a:rPr lang="en-US" dirty="0"/>
              <a:t> stored in ascending order.</a:t>
            </a:r>
          </a:p>
        </p:txBody>
      </p:sp>
    </p:spTree>
    <p:extLst>
      <p:ext uri="{BB962C8B-B14F-4D97-AF65-F5344CB8AC3E}">
        <p14:creationId xmlns:p14="http://schemas.microsoft.com/office/powerpoint/2010/main" val="3248147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HashSet</a:t>
            </a:r>
            <a:r>
              <a:rPr lang="en-US" dirty="0"/>
              <a:t> is an unordered &amp; unsorted collection of the data set, whereas the </a:t>
            </a:r>
            <a:r>
              <a:rPr lang="en-US" dirty="0" err="1"/>
              <a:t>LinkedHashSet</a:t>
            </a:r>
            <a:r>
              <a:rPr lang="en-US" dirty="0"/>
              <a:t> is an ordered and sorted collection of HashSet.</a:t>
            </a:r>
          </a:p>
          <a:p>
            <a:r>
              <a:rPr lang="en-US" dirty="0"/>
              <a:t>HashSet does not provide any method to maintain the insertion order. Comparatively, </a:t>
            </a:r>
            <a:r>
              <a:rPr lang="en-US" b="1" dirty="0" err="1"/>
              <a:t>LinkedHashSet</a:t>
            </a:r>
            <a:r>
              <a:rPr lang="en-US" dirty="0"/>
              <a:t> maintains the insertion order of the elements.</a:t>
            </a:r>
          </a:p>
          <a:p>
            <a:r>
              <a:rPr lang="en-US" dirty="0"/>
              <a:t>We can not predict the insertion order in HashSet, but we can predict it in </a:t>
            </a:r>
            <a:r>
              <a:rPr lang="en-US" dirty="0" err="1"/>
              <a:t>LinkedHashSet</a:t>
            </a:r>
            <a:r>
              <a:rPr lang="en-US" dirty="0"/>
              <a:t>.</a:t>
            </a:r>
          </a:p>
          <a:p>
            <a:r>
              <a:rPr lang="en-US" dirty="0"/>
              <a:t>The </a:t>
            </a:r>
            <a:r>
              <a:rPr lang="en-US" dirty="0" err="1"/>
              <a:t>LinkedHashSet</a:t>
            </a:r>
            <a:r>
              <a:rPr lang="en-US" dirty="0"/>
              <a:t> extends the HashSet, so it uses a </a:t>
            </a:r>
            <a:r>
              <a:rPr lang="en-US" dirty="0" err="1"/>
              <a:t>hashtable</a:t>
            </a:r>
            <a:r>
              <a:rPr lang="en-US" dirty="0"/>
              <a:t> to store the elements. Moreover, it uses a doubly linked list to maintain the insertion order.</a:t>
            </a:r>
          </a:p>
          <a:p>
            <a:r>
              <a:rPr lang="en-US" dirty="0"/>
              <a:t>The HashSet and </a:t>
            </a:r>
            <a:r>
              <a:rPr lang="en-US" dirty="0" err="1"/>
              <a:t>LinkedHashSet</a:t>
            </a:r>
            <a:r>
              <a:rPr lang="en-US" dirty="0"/>
              <a:t> both implement the Set interface.</a:t>
            </a:r>
          </a:p>
          <a:p>
            <a:r>
              <a:rPr lang="en-US" dirty="0"/>
              <a:t>HashSet is slightly faster than the </a:t>
            </a:r>
            <a:r>
              <a:rPr lang="en-US" dirty="0" err="1"/>
              <a:t>LinkedHashSet</a:t>
            </a:r>
            <a:r>
              <a:rPr lang="en-US" dirty="0"/>
              <a:t>. But both provide almost similar performance</a:t>
            </a:r>
          </a:p>
          <a:p>
            <a:r>
              <a:rPr lang="en-US" dirty="0"/>
              <a:t>Both the HashSet and </a:t>
            </a:r>
            <a:r>
              <a:rPr lang="en-US" dirty="0" err="1"/>
              <a:t>LinkedHashSet</a:t>
            </a:r>
            <a:r>
              <a:rPr lang="en-US" dirty="0"/>
              <a:t> allows only one null objects.</a:t>
            </a:r>
          </a:p>
          <a:p>
            <a:r>
              <a:rPr lang="en-US" dirty="0"/>
              <a:t>The </a:t>
            </a:r>
            <a:r>
              <a:rPr lang="en-US" dirty="0" err="1"/>
              <a:t>LinkedHashSet</a:t>
            </a:r>
            <a:r>
              <a:rPr lang="en-US" dirty="0"/>
              <a:t> requires more memory than the HashSet.</a:t>
            </a:r>
          </a:p>
          <a:p>
            <a:r>
              <a:rPr lang="en-US" dirty="0"/>
              <a:t>The HashSet was introduced in Java 2, and the </a:t>
            </a:r>
            <a:r>
              <a:rPr lang="en-US" dirty="0" err="1"/>
              <a:t>LinkedHashSet</a:t>
            </a:r>
            <a:r>
              <a:rPr lang="en-US" dirty="0"/>
              <a:t> was introduced in Java 4.</a:t>
            </a:r>
          </a:p>
        </p:txBody>
      </p:sp>
    </p:spTree>
    <p:extLst>
      <p:ext uri="{BB962C8B-B14F-4D97-AF65-F5344CB8AC3E}">
        <p14:creationId xmlns:p14="http://schemas.microsoft.com/office/powerpoint/2010/main" val="42332665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HashSet</a:t>
            </a:r>
            <a:r>
              <a:rPr lang="en-US" dirty="0"/>
              <a:t> is an unordered &amp; unsorted collection of the data set, whereas the </a:t>
            </a:r>
            <a:r>
              <a:rPr lang="en-US" dirty="0" err="1"/>
              <a:t>LinkedHashSet</a:t>
            </a:r>
            <a:r>
              <a:rPr lang="en-US" dirty="0"/>
              <a:t> is an ordered and sorted collection of HashSet.</a:t>
            </a:r>
          </a:p>
          <a:p>
            <a:r>
              <a:rPr lang="en-US" dirty="0"/>
              <a:t>HashSet does not provide any method to maintain the insertion order. Comparatively, </a:t>
            </a:r>
            <a:r>
              <a:rPr lang="en-US" b="1" dirty="0" err="1"/>
              <a:t>LinkedHashSet</a:t>
            </a:r>
            <a:r>
              <a:rPr lang="en-US" dirty="0"/>
              <a:t> maintains the insertion order of the elements.</a:t>
            </a:r>
          </a:p>
          <a:p>
            <a:r>
              <a:rPr lang="en-US" dirty="0"/>
              <a:t>We can not predict the insertion order in HashSet, but we can predict it in </a:t>
            </a:r>
            <a:r>
              <a:rPr lang="en-US" dirty="0" err="1"/>
              <a:t>LinkedHashSet</a:t>
            </a:r>
            <a:r>
              <a:rPr lang="en-US" dirty="0"/>
              <a:t>.</a:t>
            </a:r>
          </a:p>
          <a:p>
            <a:r>
              <a:rPr lang="en-US" dirty="0"/>
              <a:t>The </a:t>
            </a:r>
            <a:r>
              <a:rPr lang="en-US" dirty="0" err="1"/>
              <a:t>LinkedHashSet</a:t>
            </a:r>
            <a:r>
              <a:rPr lang="en-US" dirty="0"/>
              <a:t> extends the HashSet, so it uses a </a:t>
            </a:r>
            <a:r>
              <a:rPr lang="en-US" dirty="0" err="1"/>
              <a:t>hashtable</a:t>
            </a:r>
            <a:r>
              <a:rPr lang="en-US" dirty="0"/>
              <a:t> to store the elements. Moreover, it uses a doubly linked list to maintain the insertion order.</a:t>
            </a:r>
          </a:p>
          <a:p>
            <a:r>
              <a:rPr lang="en-US" dirty="0"/>
              <a:t>The HashSet and </a:t>
            </a:r>
            <a:r>
              <a:rPr lang="en-US" dirty="0" err="1"/>
              <a:t>LinkedHashSet</a:t>
            </a:r>
            <a:r>
              <a:rPr lang="en-US" dirty="0"/>
              <a:t> both implement the Set interface.</a:t>
            </a:r>
          </a:p>
          <a:p>
            <a:r>
              <a:rPr lang="en-US" dirty="0"/>
              <a:t>HashSet is slightly faster than the </a:t>
            </a:r>
            <a:r>
              <a:rPr lang="en-US" dirty="0" err="1"/>
              <a:t>LinkedHashSet</a:t>
            </a:r>
            <a:r>
              <a:rPr lang="en-US" dirty="0"/>
              <a:t>. But both provide almost similar performance</a:t>
            </a:r>
          </a:p>
          <a:p>
            <a:r>
              <a:rPr lang="en-US" dirty="0"/>
              <a:t>Both the HashSet and </a:t>
            </a:r>
            <a:r>
              <a:rPr lang="en-US" dirty="0" err="1"/>
              <a:t>LinkedHashSet</a:t>
            </a:r>
            <a:r>
              <a:rPr lang="en-US" dirty="0"/>
              <a:t> allows only one null objects.</a:t>
            </a:r>
          </a:p>
          <a:p>
            <a:r>
              <a:rPr lang="en-US" dirty="0"/>
              <a:t>The </a:t>
            </a:r>
            <a:r>
              <a:rPr lang="en-US" dirty="0" err="1"/>
              <a:t>LinkedHashSet</a:t>
            </a:r>
            <a:r>
              <a:rPr lang="en-US" dirty="0"/>
              <a:t> requires more memory than the HashSet.</a:t>
            </a:r>
          </a:p>
          <a:p>
            <a:r>
              <a:rPr lang="en-US" dirty="0"/>
              <a:t>The HashSet was introduced in Java 2, and the </a:t>
            </a:r>
            <a:r>
              <a:rPr lang="en-US" dirty="0" err="1"/>
              <a:t>LinkedHashSet</a:t>
            </a:r>
            <a:r>
              <a:rPr lang="en-US" dirty="0"/>
              <a:t> was introduced in Java 4.</a:t>
            </a:r>
          </a:p>
        </p:txBody>
      </p:sp>
    </p:spTree>
    <p:extLst>
      <p:ext uri="{BB962C8B-B14F-4D97-AF65-F5344CB8AC3E}">
        <p14:creationId xmlns:p14="http://schemas.microsoft.com/office/powerpoint/2010/main" val="24333320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Map</a:t>
            </a:r>
          </a:p>
          <a:p>
            <a:r>
              <a:rPr lang="en-US" b="1" dirty="0"/>
              <a:t>	</a:t>
            </a:r>
            <a:r>
              <a:rPr lang="en-US" dirty="0"/>
              <a:t>A map contains values on the basis of key, i.e. key and value pair. Each key and value pair is known as an </a:t>
            </a:r>
            <a:r>
              <a:rPr lang="en-US" b="1" dirty="0"/>
              <a:t>entry</a:t>
            </a:r>
            <a:r>
              <a:rPr lang="en-US" dirty="0"/>
              <a:t>. A Map contains unique keys.</a:t>
            </a:r>
          </a:p>
          <a:p>
            <a:r>
              <a:rPr lang="en-US" dirty="0"/>
              <a:t>	A Map is useful if you have to search, update or delete elements based on a key.</a:t>
            </a:r>
          </a:p>
          <a:p>
            <a:r>
              <a:rPr lang="en-US" b="1" dirty="0"/>
              <a:t>Java Map Hierarchy</a:t>
            </a:r>
          </a:p>
          <a:p>
            <a:r>
              <a:rPr lang="en-US" dirty="0"/>
              <a:t>	There are two interfaces for implementing Map in java: Map and </a:t>
            </a:r>
            <a:r>
              <a:rPr lang="en-US" dirty="0" err="1"/>
              <a:t>SortedMap</a:t>
            </a:r>
            <a:r>
              <a:rPr lang="en-US" dirty="0"/>
              <a:t>, and three classes: HashMap, Linked HashMap, and </a:t>
            </a:r>
            <a:r>
              <a:rPr lang="en-US" dirty="0" err="1"/>
              <a:t>TreeMap</a:t>
            </a:r>
            <a:r>
              <a:rPr lang="en-US" dirty="0"/>
              <a:t>. The hierarchy of Java Map is given below:</a:t>
            </a:r>
          </a:p>
          <a:p>
            <a:endParaRPr lang="en-US" dirty="0"/>
          </a:p>
          <a:p>
            <a:r>
              <a:rPr lang="en-US" dirty="0"/>
              <a:t>	A Map doesn't allow duplicate keys, but you can have duplicate values. HashMap and </a:t>
            </a:r>
            <a:r>
              <a:rPr lang="en-US" dirty="0" err="1"/>
              <a:t>LinkedHashMap</a:t>
            </a:r>
            <a:r>
              <a:rPr lang="en-US" dirty="0"/>
              <a:t> allow null keys and values, but </a:t>
            </a:r>
            <a:r>
              <a:rPr lang="en-US" dirty="0" err="1"/>
              <a:t>TreeMap</a:t>
            </a:r>
            <a:r>
              <a:rPr lang="en-US" dirty="0"/>
              <a:t> doesn't allow any null key or value.</a:t>
            </a:r>
          </a:p>
          <a:p>
            <a:r>
              <a:rPr lang="en-US" dirty="0"/>
              <a:t>	</a:t>
            </a:r>
          </a:p>
          <a:p>
            <a:r>
              <a:rPr lang="en-US" dirty="0"/>
              <a:t>	In Java, Map Interface is present in </a:t>
            </a:r>
            <a:r>
              <a:rPr lang="en-US" dirty="0" err="1">
                <a:hlinkClick r:id="rId3"/>
              </a:rPr>
              <a:t>java.util</a:t>
            </a:r>
            <a:r>
              <a:rPr lang="en-US" dirty="0"/>
              <a:t> package represents a mapping between a key and a value. Java Map interface is not a subtype of the </a:t>
            </a:r>
            <a:r>
              <a:rPr lang="en-US" dirty="0">
                <a:hlinkClick r:id="rId4"/>
              </a:rPr>
              <a:t>Collection interface</a:t>
            </a:r>
            <a:r>
              <a:rPr lang="en-US" dirty="0"/>
              <a:t>. Therefore it behaves a bit differently from the rest of the collection types. A map contains unique keys.</a:t>
            </a:r>
          </a:p>
        </p:txBody>
      </p:sp>
    </p:spTree>
    <p:extLst>
      <p:ext uri="{BB962C8B-B14F-4D97-AF65-F5344CB8AC3E}">
        <p14:creationId xmlns:p14="http://schemas.microsoft.com/office/powerpoint/2010/main" val="98482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pic>
        <p:nvPicPr>
          <p:cNvPr id="6" name="Content Placeholder 5" descr="A diagram of a map&#10;&#10;Description automatically generated">
            <a:extLst>
              <a:ext uri="{FF2B5EF4-FFF2-40B4-BE49-F238E27FC236}">
                <a16:creationId xmlns:a16="http://schemas.microsoft.com/office/drawing/2014/main" id="{E78B397F-609B-0870-EB6C-A127CCE07E74}"/>
              </a:ext>
            </a:extLst>
          </p:cNvPr>
          <p:cNvPicPr>
            <a:picLocks noGrp="1" noChangeAspect="1"/>
          </p:cNvPicPr>
          <p:nvPr>
            <p:ph sz="half" idx="2"/>
          </p:nvPr>
        </p:nvPicPr>
        <p:blipFill>
          <a:blip r:embed="rId3"/>
          <a:stretch>
            <a:fillRect/>
          </a:stretch>
        </p:blipFill>
        <p:spPr>
          <a:xfrm>
            <a:off x="4091840" y="2094271"/>
            <a:ext cx="4841758" cy="4001729"/>
          </a:xfrm>
        </p:spPr>
      </p:pic>
    </p:spTree>
    <p:extLst>
      <p:ext uri="{BB962C8B-B14F-4D97-AF65-F5344CB8AC3E}">
        <p14:creationId xmlns:p14="http://schemas.microsoft.com/office/powerpoint/2010/main" val="1486289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	A Map can't be traversed, so you need to convert it into Set using </a:t>
            </a:r>
            <a:r>
              <a:rPr lang="en-US" dirty="0" err="1"/>
              <a:t>keySet</a:t>
            </a:r>
            <a:r>
              <a:rPr lang="en-US" dirty="0"/>
              <a:t>() or </a:t>
            </a:r>
            <a:r>
              <a:rPr lang="en-US" dirty="0" err="1"/>
              <a:t>entrySet</a:t>
            </a:r>
            <a:r>
              <a:rPr lang="en-US" dirty="0"/>
              <a:t>() method.</a:t>
            </a:r>
          </a:p>
          <a:p>
            <a:r>
              <a:rPr lang="en-US" dirty="0"/>
              <a:t>	</a:t>
            </a:r>
          </a:p>
          <a:p>
            <a:r>
              <a:rPr lang="en-US" dirty="0"/>
              <a:t>	</a:t>
            </a:r>
          </a:p>
        </p:txBody>
      </p:sp>
      <p:graphicFrame>
        <p:nvGraphicFramePr>
          <p:cNvPr id="2" name="Table 1">
            <a:extLst>
              <a:ext uri="{FF2B5EF4-FFF2-40B4-BE49-F238E27FC236}">
                <a16:creationId xmlns:a16="http://schemas.microsoft.com/office/drawing/2014/main" id="{652B541D-55B9-EB1C-5253-BFCA91A095C4}"/>
              </a:ext>
            </a:extLst>
          </p:cNvPr>
          <p:cNvGraphicFramePr>
            <a:graphicFrameLocks noGrp="1"/>
          </p:cNvGraphicFramePr>
          <p:nvPr>
            <p:extLst>
              <p:ext uri="{D42A27DB-BD31-4B8C-83A1-F6EECF244321}">
                <p14:modId xmlns:p14="http://schemas.microsoft.com/office/powerpoint/2010/main" val="1229035520"/>
              </p:ext>
            </p:extLst>
          </p:nvPr>
        </p:nvGraphicFramePr>
        <p:xfrm>
          <a:off x="1435100" y="2721134"/>
          <a:ext cx="9918700" cy="2560320"/>
        </p:xfrm>
        <a:graphic>
          <a:graphicData uri="http://schemas.openxmlformats.org/drawingml/2006/table">
            <a:tbl>
              <a:tblPr/>
              <a:tblGrid>
                <a:gridCol w="4959350">
                  <a:extLst>
                    <a:ext uri="{9D8B030D-6E8A-4147-A177-3AD203B41FA5}">
                      <a16:colId xmlns:a16="http://schemas.microsoft.com/office/drawing/2014/main" val="3469139896"/>
                    </a:ext>
                  </a:extLst>
                </a:gridCol>
                <a:gridCol w="4959350">
                  <a:extLst>
                    <a:ext uri="{9D8B030D-6E8A-4147-A177-3AD203B41FA5}">
                      <a16:colId xmlns:a16="http://schemas.microsoft.com/office/drawing/2014/main" val="2143594328"/>
                    </a:ext>
                  </a:extLst>
                </a:gridCol>
              </a:tblGrid>
              <a:tr h="0">
                <a:tc>
                  <a:txBody>
                    <a:bodyPr/>
                    <a:lstStyle/>
                    <a:p>
                      <a:r>
                        <a:rPr lang="en-US" dirty="0"/>
                        <a:t>Class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5861701"/>
                  </a:ext>
                </a:extLst>
              </a:tr>
              <a:tr h="0">
                <a:tc>
                  <a:txBody>
                    <a:bodyPr/>
                    <a:lstStyle/>
                    <a:p>
                      <a:r>
                        <a:rPr lang="en-US">
                          <a:hlinkClick r:id="rId3"/>
                        </a:rPr>
                        <a:t>HashMap</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HashMap is the implementation of Map, but it doesn't maintain any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4382541"/>
                  </a:ext>
                </a:extLst>
              </a:tr>
              <a:tr h="0">
                <a:tc>
                  <a:txBody>
                    <a:bodyPr/>
                    <a:lstStyle/>
                    <a:p>
                      <a:r>
                        <a:rPr lang="en-US">
                          <a:hlinkClick r:id="rId4"/>
                        </a:rPr>
                        <a:t>LinkedHashMap</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LinkedHashMap is the implementation of Map. It inherits HashMap class. It maintains insertion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5345130"/>
                  </a:ext>
                </a:extLst>
              </a:tr>
              <a:tr h="0">
                <a:tc>
                  <a:txBody>
                    <a:bodyPr/>
                    <a:lstStyle/>
                    <a:p>
                      <a:r>
                        <a:rPr lang="en-US">
                          <a:hlinkClick r:id="rId5"/>
                        </a:rPr>
                        <a:t>TreeMap</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err="1"/>
                        <a:t>TreeMap</a:t>
                      </a:r>
                      <a:r>
                        <a:rPr lang="en-US" dirty="0"/>
                        <a:t> is the implementation of Map and </a:t>
                      </a:r>
                      <a:r>
                        <a:rPr lang="en-US" dirty="0" err="1"/>
                        <a:t>SortedMap</a:t>
                      </a:r>
                      <a:r>
                        <a:rPr lang="en-US" dirty="0"/>
                        <a:t>. It maintains ascending order.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4423928"/>
                  </a:ext>
                </a:extLst>
              </a:tr>
            </a:tbl>
          </a:graphicData>
        </a:graphic>
      </p:graphicFrame>
    </p:spTree>
    <p:extLst>
      <p:ext uri="{BB962C8B-B14F-4D97-AF65-F5344CB8AC3E}">
        <p14:creationId xmlns:p14="http://schemas.microsoft.com/office/powerpoint/2010/main" val="34440747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lnSpcReduction="10000"/>
          </a:bodyPr>
          <a:lstStyle/>
          <a:p>
            <a:r>
              <a:rPr lang="en-US" dirty="0"/>
              <a:t>	Maps are perfect to use for key-value association mapping such as dictionaries. The maps are used to perform lookups by keys or when someone wants to retrieve and update elements by keys. Some common scenarios are as follows: </a:t>
            </a:r>
          </a:p>
          <a:p>
            <a:r>
              <a:rPr lang="en-US" dirty="0"/>
              <a:t>    A map of error codes and their descriptions.</a:t>
            </a:r>
          </a:p>
          <a:p>
            <a:r>
              <a:rPr lang="en-US" dirty="0"/>
              <a:t>    A map of zip codes and cities.</a:t>
            </a:r>
          </a:p>
          <a:p>
            <a:r>
              <a:rPr lang="en-US" dirty="0"/>
              <a:t>    A map of managers and employees. Each manager (key) is associated with a list of employees (value) he manages.</a:t>
            </a:r>
          </a:p>
          <a:p>
            <a:r>
              <a:rPr lang="en-US" dirty="0"/>
              <a:t>    A map of classes and students. Each class (key) is associated with a list of students (value).</a:t>
            </a:r>
          </a:p>
          <a:p>
            <a:r>
              <a:rPr lang="en-US" b="1" dirty="0"/>
              <a:t>Creating Map Objects</a:t>
            </a:r>
          </a:p>
          <a:p>
            <a:r>
              <a:rPr lang="en-US" dirty="0"/>
              <a:t>	Since Map is an interface, objects cannot be created of the type map. We always need a class that extends this map in order to create an object. And also, after the introduction of Generics in Java 1.5, it is possible to restrict the type of object that can be stored in the Map. </a:t>
            </a:r>
          </a:p>
          <a:p>
            <a:r>
              <a:rPr lang="en-US" dirty="0"/>
              <a:t>	Syntax: Defining Type-safe Map</a:t>
            </a:r>
          </a:p>
          <a:p>
            <a:endParaRPr lang="en-US" dirty="0"/>
          </a:p>
          <a:p>
            <a:r>
              <a:rPr lang="en-US" dirty="0"/>
              <a:t>	Map hm = new HashMap(); </a:t>
            </a:r>
          </a:p>
          <a:p>
            <a:r>
              <a:rPr lang="en-US" dirty="0"/>
              <a:t>	// Obj is the type of the object to be stored in Map</a:t>
            </a:r>
          </a:p>
          <a:p>
            <a:endParaRPr lang="en-US" dirty="0"/>
          </a:p>
        </p:txBody>
      </p:sp>
    </p:spTree>
    <p:extLst>
      <p:ext uri="{BB962C8B-B14F-4D97-AF65-F5344CB8AC3E}">
        <p14:creationId xmlns:p14="http://schemas.microsoft.com/office/powerpoint/2010/main" val="10494278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a:t>Characteristics of a Map Interface</a:t>
            </a:r>
          </a:p>
          <a:p>
            <a:r>
              <a:rPr lang="en-US"/>
              <a:t>    A Map cannot contain duplicate keys and each key can map to at most one value. Some implementations allow </a:t>
            </a:r>
            <a:r>
              <a:rPr lang="en-US" b="1"/>
              <a:t>null</a:t>
            </a:r>
            <a:r>
              <a:rPr lang="en-US"/>
              <a:t> key and </a:t>
            </a:r>
            <a:r>
              <a:rPr lang="en-US" b="1"/>
              <a:t>null</a:t>
            </a:r>
            <a:r>
              <a:rPr lang="en-US"/>
              <a:t> values like the HashMap and LinkedHashMap, but some do not like the TreeMap.</a:t>
            </a:r>
          </a:p>
          <a:p>
            <a:r>
              <a:rPr lang="en-US"/>
              <a:t>    The order of a map depends on the specific implementations. For example, TreeMap and </a:t>
            </a:r>
            <a:r>
              <a:rPr lang="en-US" b="1"/>
              <a:t>LinkedHashMap</a:t>
            </a:r>
            <a:r>
              <a:rPr lang="en-US"/>
              <a:t> have </a:t>
            </a:r>
            <a:r>
              <a:rPr lang="en-US" b="1"/>
              <a:t>predictable</a:t>
            </a:r>
            <a:r>
              <a:rPr lang="en-US"/>
              <a:t> orders, while HashMap does not.</a:t>
            </a:r>
          </a:p>
          <a:p>
            <a:r>
              <a:rPr lang="en-US"/>
              <a:t>    There are two interfaces for implementing Map in Java. They are </a:t>
            </a:r>
            <a:r>
              <a:rPr lang="en-US" b="1"/>
              <a:t>Map</a:t>
            </a:r>
            <a:r>
              <a:rPr lang="en-US"/>
              <a:t> and </a:t>
            </a:r>
            <a:r>
              <a:rPr lang="en-US" b="1"/>
              <a:t>SortedMap</a:t>
            </a:r>
            <a:r>
              <a:rPr lang="en-US"/>
              <a:t>, and three classes: </a:t>
            </a:r>
            <a:r>
              <a:rPr lang="en-US" b="1"/>
              <a:t>HashMap</a:t>
            </a:r>
            <a:r>
              <a:rPr lang="en-US"/>
              <a:t>, </a:t>
            </a:r>
            <a:r>
              <a:rPr lang="en-US" b="1"/>
              <a:t>TreeMap</a:t>
            </a:r>
            <a:r>
              <a:rPr lang="en-US"/>
              <a:t>, and </a:t>
            </a:r>
            <a:r>
              <a:rPr lang="en-US" b="1"/>
              <a:t>LinkedHashMap</a:t>
            </a:r>
            <a:r>
              <a:rPr lang="en-US"/>
              <a:t>.</a:t>
            </a:r>
          </a:p>
          <a:p>
            <a:endParaRPr lang="en-US" dirty="0"/>
          </a:p>
        </p:txBody>
      </p:sp>
    </p:spTree>
    <p:extLst>
      <p:ext uri="{BB962C8B-B14F-4D97-AF65-F5344CB8AC3E}">
        <p14:creationId xmlns:p14="http://schemas.microsoft.com/office/powerpoint/2010/main" val="817409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D37F35EF-B79B-51B5-9765-C94CA1F6633B}"/>
              </a:ext>
            </a:extLst>
          </p:cNvPr>
          <p:cNvGraphicFramePr>
            <a:graphicFrameLocks noGrp="1"/>
          </p:cNvGraphicFramePr>
          <p:nvPr>
            <p:ph sz="half" idx="2"/>
            <p:extLst>
              <p:ext uri="{D42A27DB-BD31-4B8C-83A1-F6EECF244321}">
                <p14:modId xmlns:p14="http://schemas.microsoft.com/office/powerpoint/2010/main" val="1571311104"/>
              </p:ext>
            </p:extLst>
          </p:nvPr>
        </p:nvGraphicFramePr>
        <p:xfrm>
          <a:off x="1445341" y="1501776"/>
          <a:ext cx="9783098" cy="4621480"/>
        </p:xfrm>
        <a:graphic>
          <a:graphicData uri="http://schemas.openxmlformats.org/drawingml/2006/table">
            <a:tbl>
              <a:tblPr/>
              <a:tblGrid>
                <a:gridCol w="4891549">
                  <a:extLst>
                    <a:ext uri="{9D8B030D-6E8A-4147-A177-3AD203B41FA5}">
                      <a16:colId xmlns:a16="http://schemas.microsoft.com/office/drawing/2014/main" val="1256060912"/>
                    </a:ext>
                  </a:extLst>
                </a:gridCol>
                <a:gridCol w="4891549">
                  <a:extLst>
                    <a:ext uri="{9D8B030D-6E8A-4147-A177-3AD203B41FA5}">
                      <a16:colId xmlns:a16="http://schemas.microsoft.com/office/drawing/2014/main" val="697486990"/>
                    </a:ext>
                  </a:extLst>
                </a:gridCol>
              </a:tblGrid>
              <a:tr h="268514">
                <a:tc>
                  <a:txBody>
                    <a:bodyPr/>
                    <a:lstStyle/>
                    <a:p>
                      <a:r>
                        <a:rPr lang="en-US" sz="1400"/>
                        <a:t>Method</a:t>
                      </a:r>
                    </a:p>
                  </a:txBody>
                  <a:tcPr marL="71554" marR="71554" marT="35777" marB="35777" anchor="ctr">
                    <a:lnL>
                      <a:noFill/>
                    </a:lnL>
                    <a:lnR>
                      <a:noFill/>
                    </a:lnR>
                    <a:lnT>
                      <a:noFill/>
                    </a:lnT>
                    <a:lnB>
                      <a:noFill/>
                    </a:lnB>
                    <a:noFill/>
                  </a:tcPr>
                </a:tc>
                <a:tc>
                  <a:txBody>
                    <a:bodyPr/>
                    <a:lstStyle/>
                    <a:p>
                      <a:r>
                        <a:rPr lang="en-US" sz="1400"/>
                        <a:t>Action Performed </a:t>
                      </a:r>
                    </a:p>
                  </a:txBody>
                  <a:tcPr marL="71554" marR="71554" marT="35777" marB="35777" anchor="ctr">
                    <a:lnL>
                      <a:noFill/>
                    </a:lnL>
                    <a:lnR>
                      <a:noFill/>
                    </a:lnR>
                    <a:lnT>
                      <a:noFill/>
                    </a:lnT>
                    <a:lnB>
                      <a:noFill/>
                    </a:lnB>
                    <a:noFill/>
                  </a:tcPr>
                </a:tc>
                <a:extLst>
                  <a:ext uri="{0D108BD9-81ED-4DB2-BD59-A6C34878D82A}">
                    <a16:rowId xmlns:a16="http://schemas.microsoft.com/office/drawing/2014/main" val="2996526108"/>
                  </a:ext>
                </a:extLst>
              </a:tr>
              <a:tr h="671283">
                <a:tc>
                  <a:txBody>
                    <a:bodyPr/>
                    <a:lstStyle/>
                    <a:p>
                      <a:r>
                        <a:rPr lang="en-US" sz="1400">
                          <a:hlinkClick r:id="rId3"/>
                        </a:rPr>
                        <a:t>clear()</a:t>
                      </a:r>
                      <a:endParaRPr lang="en-US" sz="1400"/>
                    </a:p>
                  </a:txBody>
                  <a:tcPr marL="71554" marR="71554" marT="35777" marB="35777" anchor="ctr">
                    <a:lnL>
                      <a:noFill/>
                    </a:lnL>
                    <a:lnR>
                      <a:noFill/>
                    </a:lnR>
                    <a:lnT>
                      <a:noFill/>
                    </a:lnT>
                    <a:lnB>
                      <a:noFill/>
                    </a:lnB>
                    <a:noFill/>
                  </a:tcPr>
                </a:tc>
                <a:tc>
                  <a:txBody>
                    <a:bodyPr/>
                    <a:lstStyle/>
                    <a:p>
                      <a:r>
                        <a:rPr lang="en-US" sz="1400"/>
                        <a:t>This method is used in Java Map Interface to clear and remove all of the elements or mappings from a specified Map collection.</a:t>
                      </a:r>
                    </a:p>
                  </a:txBody>
                  <a:tcPr marL="71554" marR="71554" marT="35777" marB="35777" anchor="ctr">
                    <a:lnL>
                      <a:noFill/>
                    </a:lnL>
                    <a:lnR>
                      <a:noFill/>
                    </a:lnR>
                    <a:lnT>
                      <a:noFill/>
                    </a:lnT>
                    <a:lnB>
                      <a:noFill/>
                    </a:lnB>
                    <a:noFill/>
                  </a:tcPr>
                </a:tc>
                <a:extLst>
                  <a:ext uri="{0D108BD9-81ED-4DB2-BD59-A6C34878D82A}">
                    <a16:rowId xmlns:a16="http://schemas.microsoft.com/office/drawing/2014/main" val="2599596062"/>
                  </a:ext>
                </a:extLst>
              </a:tr>
              <a:tr h="1074054">
                <a:tc>
                  <a:txBody>
                    <a:bodyPr/>
                    <a:lstStyle/>
                    <a:p>
                      <a:r>
                        <a:rPr lang="en-US" sz="1400">
                          <a:hlinkClick r:id="rId4"/>
                        </a:rPr>
                        <a:t>containsKey(Object)</a:t>
                      </a:r>
                      <a:endParaRPr lang="en-US" sz="1400"/>
                    </a:p>
                  </a:txBody>
                  <a:tcPr marL="71554" marR="71554" marT="35777" marB="35777" anchor="ctr">
                    <a:lnL>
                      <a:noFill/>
                    </a:lnL>
                    <a:lnR>
                      <a:noFill/>
                    </a:lnR>
                    <a:lnT>
                      <a:noFill/>
                    </a:lnT>
                    <a:lnB>
                      <a:noFill/>
                    </a:lnB>
                    <a:noFill/>
                  </a:tcPr>
                </a:tc>
                <a:tc>
                  <a:txBody>
                    <a:bodyPr/>
                    <a:lstStyle/>
                    <a:p>
                      <a:r>
                        <a:rPr lang="en-US" sz="1400"/>
                        <a:t>This method is used in Map Interface in Java to check whether a particular key is being mapped into the Map or not. It takes the key element as a parameter and returns True if that element is mapped in the map.</a:t>
                      </a:r>
                    </a:p>
                  </a:txBody>
                  <a:tcPr marL="71554" marR="71554" marT="35777" marB="35777" anchor="ctr">
                    <a:lnL>
                      <a:noFill/>
                    </a:lnL>
                    <a:lnR>
                      <a:noFill/>
                    </a:lnR>
                    <a:lnT>
                      <a:noFill/>
                    </a:lnT>
                    <a:lnB>
                      <a:noFill/>
                    </a:lnB>
                    <a:noFill/>
                  </a:tcPr>
                </a:tc>
                <a:extLst>
                  <a:ext uri="{0D108BD9-81ED-4DB2-BD59-A6C34878D82A}">
                    <a16:rowId xmlns:a16="http://schemas.microsoft.com/office/drawing/2014/main" val="3846124555"/>
                  </a:ext>
                </a:extLst>
              </a:tr>
              <a:tr h="1275439">
                <a:tc>
                  <a:txBody>
                    <a:bodyPr/>
                    <a:lstStyle/>
                    <a:p>
                      <a:r>
                        <a:rPr lang="en-US" sz="1400">
                          <a:hlinkClick r:id="rId5"/>
                        </a:rPr>
                        <a:t>containsValue(Object)</a:t>
                      </a:r>
                      <a:endParaRPr lang="en-US" sz="1400"/>
                    </a:p>
                  </a:txBody>
                  <a:tcPr marL="71554" marR="71554" marT="35777" marB="35777" anchor="ctr">
                    <a:lnL>
                      <a:noFill/>
                    </a:lnL>
                    <a:lnR>
                      <a:noFill/>
                    </a:lnR>
                    <a:lnT>
                      <a:noFill/>
                    </a:lnT>
                    <a:lnB>
                      <a:noFill/>
                    </a:lnB>
                    <a:noFill/>
                  </a:tcPr>
                </a:tc>
                <a:tc>
                  <a:txBody>
                    <a:bodyPr/>
                    <a:lstStyle/>
                    <a:p>
                      <a:r>
                        <a:rPr lang="en-US" sz="1400"/>
                        <a:t>This method is used in Map Interface to check whether a particular value is being mapped by a single or more than one key in the Map. It takes the value as a parameter and returns True if that value is mapped by any of the keys in the map.</a:t>
                      </a:r>
                    </a:p>
                  </a:txBody>
                  <a:tcPr marL="71554" marR="71554" marT="35777" marB="35777" anchor="ctr">
                    <a:lnL>
                      <a:noFill/>
                    </a:lnL>
                    <a:lnR>
                      <a:noFill/>
                    </a:lnR>
                    <a:lnT>
                      <a:noFill/>
                    </a:lnT>
                    <a:lnB>
                      <a:noFill/>
                    </a:lnB>
                    <a:noFill/>
                  </a:tcPr>
                </a:tc>
                <a:extLst>
                  <a:ext uri="{0D108BD9-81ED-4DB2-BD59-A6C34878D82A}">
                    <a16:rowId xmlns:a16="http://schemas.microsoft.com/office/drawing/2014/main" val="1752184922"/>
                  </a:ext>
                </a:extLst>
              </a:tr>
              <a:tr h="1275439">
                <a:tc>
                  <a:txBody>
                    <a:bodyPr/>
                    <a:lstStyle/>
                    <a:p>
                      <a:r>
                        <a:rPr lang="en-US" sz="1400">
                          <a:hlinkClick r:id="rId6"/>
                        </a:rPr>
                        <a:t>entrySet()</a:t>
                      </a:r>
                      <a:endParaRPr lang="en-US" sz="1400"/>
                    </a:p>
                  </a:txBody>
                  <a:tcPr marL="71554" marR="71554" marT="35777" marB="35777" anchor="ctr">
                    <a:lnL>
                      <a:noFill/>
                    </a:lnL>
                    <a:lnR>
                      <a:noFill/>
                    </a:lnR>
                    <a:lnT>
                      <a:noFill/>
                    </a:lnT>
                    <a:lnB>
                      <a:noFill/>
                    </a:lnB>
                    <a:noFill/>
                  </a:tcPr>
                </a:tc>
                <a:tc>
                  <a:txBody>
                    <a:bodyPr/>
                    <a:lstStyle/>
                    <a:p>
                      <a:r>
                        <a:rPr lang="en-US" sz="1400" dirty="0"/>
                        <a:t>This method is used in Map Interface in Java to create a set out of the same elements contained in the map. It basically returns a set view of the map or we can create a new set and store the map elements into them.</a:t>
                      </a:r>
                    </a:p>
                  </a:txBody>
                  <a:tcPr marL="71554" marR="71554" marT="35777" marB="35777" anchor="ctr">
                    <a:lnL>
                      <a:noFill/>
                    </a:lnL>
                    <a:lnR>
                      <a:noFill/>
                    </a:lnR>
                    <a:lnT>
                      <a:noFill/>
                    </a:lnT>
                    <a:lnB>
                      <a:noFill/>
                    </a:lnB>
                    <a:noFill/>
                  </a:tcPr>
                </a:tc>
                <a:extLst>
                  <a:ext uri="{0D108BD9-81ED-4DB2-BD59-A6C34878D82A}">
                    <a16:rowId xmlns:a16="http://schemas.microsoft.com/office/drawing/2014/main" val="822971033"/>
                  </a:ext>
                </a:extLst>
              </a:tr>
            </a:tbl>
          </a:graphicData>
        </a:graphic>
      </p:graphicFrame>
    </p:spTree>
    <p:extLst>
      <p:ext uri="{BB962C8B-B14F-4D97-AF65-F5344CB8AC3E}">
        <p14:creationId xmlns:p14="http://schemas.microsoft.com/office/powerpoint/2010/main" val="13105803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0B87BD01-383A-C724-BA12-F9DEA4507F56}"/>
              </a:ext>
            </a:extLst>
          </p:cNvPr>
          <p:cNvGraphicFramePr>
            <a:graphicFrameLocks noGrp="1"/>
          </p:cNvGraphicFramePr>
          <p:nvPr>
            <p:ph sz="half" idx="2"/>
            <p:extLst>
              <p:ext uri="{D42A27DB-BD31-4B8C-83A1-F6EECF244321}">
                <p14:modId xmlns:p14="http://schemas.microsoft.com/office/powerpoint/2010/main" val="2207641287"/>
              </p:ext>
            </p:extLst>
          </p:nvPr>
        </p:nvGraphicFramePr>
        <p:xfrm>
          <a:off x="1120877" y="1557179"/>
          <a:ext cx="10351192" cy="4480560"/>
        </p:xfrm>
        <a:graphic>
          <a:graphicData uri="http://schemas.openxmlformats.org/drawingml/2006/table">
            <a:tbl>
              <a:tblPr/>
              <a:tblGrid>
                <a:gridCol w="5175596">
                  <a:extLst>
                    <a:ext uri="{9D8B030D-6E8A-4147-A177-3AD203B41FA5}">
                      <a16:colId xmlns:a16="http://schemas.microsoft.com/office/drawing/2014/main" val="1108129603"/>
                    </a:ext>
                  </a:extLst>
                </a:gridCol>
                <a:gridCol w="5175596">
                  <a:extLst>
                    <a:ext uri="{9D8B030D-6E8A-4147-A177-3AD203B41FA5}">
                      <a16:colId xmlns:a16="http://schemas.microsoft.com/office/drawing/2014/main" val="1865528445"/>
                    </a:ext>
                  </a:extLst>
                </a:gridCol>
              </a:tblGrid>
              <a:tr h="0">
                <a:tc>
                  <a:txBody>
                    <a:bodyPr/>
                    <a:lstStyle/>
                    <a:p>
                      <a:r>
                        <a:rPr lang="en-US">
                          <a:hlinkClick r:id="rId3"/>
                        </a:rPr>
                        <a:t>equals(Object)</a:t>
                      </a:r>
                      <a:endParaRPr lang="en-US"/>
                    </a:p>
                  </a:txBody>
                  <a:tcPr anchor="ctr">
                    <a:lnL>
                      <a:noFill/>
                    </a:lnL>
                    <a:lnR>
                      <a:noFill/>
                    </a:lnR>
                    <a:lnT>
                      <a:noFill/>
                    </a:lnT>
                    <a:lnB>
                      <a:noFill/>
                    </a:lnB>
                    <a:noFill/>
                  </a:tcPr>
                </a:tc>
                <a:tc>
                  <a:txBody>
                    <a:bodyPr/>
                    <a:lstStyle/>
                    <a:p>
                      <a:r>
                        <a:rPr lang="en-US"/>
                        <a:t>This method is used in Java Map Interface to check for equality between two maps. It verifies whether the elements of one map passed as a parameter is equal to the elements of this map or not.</a:t>
                      </a:r>
                    </a:p>
                  </a:txBody>
                  <a:tcPr anchor="ctr">
                    <a:lnL>
                      <a:noFill/>
                    </a:lnL>
                    <a:lnR>
                      <a:noFill/>
                    </a:lnR>
                    <a:lnT>
                      <a:noFill/>
                    </a:lnT>
                    <a:lnB>
                      <a:noFill/>
                    </a:lnB>
                    <a:noFill/>
                  </a:tcPr>
                </a:tc>
                <a:extLst>
                  <a:ext uri="{0D108BD9-81ED-4DB2-BD59-A6C34878D82A}">
                    <a16:rowId xmlns:a16="http://schemas.microsoft.com/office/drawing/2014/main" val="1724273376"/>
                  </a:ext>
                </a:extLst>
              </a:tr>
              <a:tr h="0">
                <a:tc>
                  <a:txBody>
                    <a:bodyPr/>
                    <a:lstStyle/>
                    <a:p>
                      <a:r>
                        <a:rPr lang="en-US">
                          <a:hlinkClick r:id="rId4"/>
                        </a:rPr>
                        <a:t>get(Object)</a:t>
                      </a:r>
                      <a:endParaRPr lang="en-US"/>
                    </a:p>
                  </a:txBody>
                  <a:tcPr anchor="ctr">
                    <a:lnL>
                      <a:noFill/>
                    </a:lnL>
                    <a:lnR>
                      <a:noFill/>
                    </a:lnR>
                    <a:lnT>
                      <a:noFill/>
                    </a:lnT>
                    <a:lnB>
                      <a:noFill/>
                    </a:lnB>
                    <a:noFill/>
                  </a:tcPr>
                </a:tc>
                <a:tc>
                  <a:txBody>
                    <a:bodyPr/>
                    <a:lstStyle/>
                    <a:p>
                      <a:r>
                        <a:rPr lang="en-US"/>
                        <a:t>This method is used to retrieve or fetch the value mapped by a particular key mentioned in the parameter. It returns NULL when the map contains no such mapping for the key.</a:t>
                      </a:r>
                    </a:p>
                  </a:txBody>
                  <a:tcPr anchor="ctr">
                    <a:lnL>
                      <a:noFill/>
                    </a:lnL>
                    <a:lnR>
                      <a:noFill/>
                    </a:lnR>
                    <a:lnT>
                      <a:noFill/>
                    </a:lnT>
                    <a:lnB>
                      <a:noFill/>
                    </a:lnB>
                    <a:noFill/>
                  </a:tcPr>
                </a:tc>
                <a:extLst>
                  <a:ext uri="{0D108BD9-81ED-4DB2-BD59-A6C34878D82A}">
                    <a16:rowId xmlns:a16="http://schemas.microsoft.com/office/drawing/2014/main" val="2894452456"/>
                  </a:ext>
                </a:extLst>
              </a:tr>
              <a:tr h="0">
                <a:tc>
                  <a:txBody>
                    <a:bodyPr/>
                    <a:lstStyle/>
                    <a:p>
                      <a:r>
                        <a:rPr lang="en-US">
                          <a:hlinkClick r:id="rId5"/>
                        </a:rPr>
                        <a:t>hashCode()</a:t>
                      </a:r>
                      <a:endParaRPr lang="en-US"/>
                    </a:p>
                  </a:txBody>
                  <a:tcPr anchor="ctr">
                    <a:lnL>
                      <a:noFill/>
                    </a:lnL>
                    <a:lnR>
                      <a:noFill/>
                    </a:lnR>
                    <a:lnT>
                      <a:noFill/>
                    </a:lnT>
                    <a:lnB>
                      <a:noFill/>
                    </a:lnB>
                    <a:noFill/>
                  </a:tcPr>
                </a:tc>
                <a:tc>
                  <a:txBody>
                    <a:bodyPr/>
                    <a:lstStyle/>
                    <a:p>
                      <a:r>
                        <a:rPr lang="en-US"/>
                        <a:t>This method is used in Map Interface to generate a hashCode for the given map containing keys and values.</a:t>
                      </a:r>
                    </a:p>
                  </a:txBody>
                  <a:tcPr anchor="ctr">
                    <a:lnL>
                      <a:noFill/>
                    </a:lnL>
                    <a:lnR>
                      <a:noFill/>
                    </a:lnR>
                    <a:lnT>
                      <a:noFill/>
                    </a:lnT>
                    <a:lnB>
                      <a:noFill/>
                    </a:lnB>
                    <a:noFill/>
                  </a:tcPr>
                </a:tc>
                <a:extLst>
                  <a:ext uri="{0D108BD9-81ED-4DB2-BD59-A6C34878D82A}">
                    <a16:rowId xmlns:a16="http://schemas.microsoft.com/office/drawing/2014/main" val="2305563904"/>
                  </a:ext>
                </a:extLst>
              </a:tr>
              <a:tr h="0">
                <a:tc>
                  <a:txBody>
                    <a:bodyPr/>
                    <a:lstStyle/>
                    <a:p>
                      <a:r>
                        <a:rPr lang="en-US">
                          <a:hlinkClick r:id="rId6"/>
                        </a:rPr>
                        <a:t>isEmpty()</a:t>
                      </a:r>
                      <a:endParaRPr lang="en-US"/>
                    </a:p>
                  </a:txBody>
                  <a:tcPr anchor="ctr">
                    <a:lnL>
                      <a:noFill/>
                    </a:lnL>
                    <a:lnR>
                      <a:noFill/>
                    </a:lnR>
                    <a:lnT>
                      <a:noFill/>
                    </a:lnT>
                    <a:lnB>
                      <a:noFill/>
                    </a:lnB>
                    <a:noFill/>
                  </a:tcPr>
                </a:tc>
                <a:tc>
                  <a:txBody>
                    <a:bodyPr/>
                    <a:lstStyle/>
                    <a:p>
                      <a:r>
                        <a:rPr lang="en-US" dirty="0"/>
                        <a:t>This method is used to check if a map is having any entry for key and value pairs. If no mapping exists, then this returns true.</a:t>
                      </a:r>
                    </a:p>
                  </a:txBody>
                  <a:tcPr anchor="ctr">
                    <a:lnL>
                      <a:noFill/>
                    </a:lnL>
                    <a:lnR>
                      <a:noFill/>
                    </a:lnR>
                    <a:lnT>
                      <a:noFill/>
                    </a:lnT>
                    <a:lnB>
                      <a:noFill/>
                    </a:lnB>
                    <a:noFill/>
                  </a:tcPr>
                </a:tc>
                <a:extLst>
                  <a:ext uri="{0D108BD9-81ED-4DB2-BD59-A6C34878D82A}">
                    <a16:rowId xmlns:a16="http://schemas.microsoft.com/office/drawing/2014/main" val="1943939185"/>
                  </a:ext>
                </a:extLst>
              </a:tr>
            </a:tbl>
          </a:graphicData>
        </a:graphic>
      </p:graphicFrame>
    </p:spTree>
    <p:extLst>
      <p:ext uri="{BB962C8B-B14F-4D97-AF65-F5344CB8AC3E}">
        <p14:creationId xmlns:p14="http://schemas.microsoft.com/office/powerpoint/2010/main" val="4091242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1101096E-02DB-F66D-B9E2-B86D7C775463}"/>
              </a:ext>
            </a:extLst>
          </p:cNvPr>
          <p:cNvGraphicFramePr>
            <a:graphicFrameLocks noGrp="1"/>
          </p:cNvGraphicFramePr>
          <p:nvPr>
            <p:ph sz="half" idx="2"/>
            <p:extLst>
              <p:ext uri="{D42A27DB-BD31-4B8C-83A1-F6EECF244321}">
                <p14:modId xmlns:p14="http://schemas.microsoft.com/office/powerpoint/2010/main" val="2074084447"/>
              </p:ext>
            </p:extLst>
          </p:nvPr>
        </p:nvGraphicFramePr>
        <p:xfrm>
          <a:off x="963561" y="1533832"/>
          <a:ext cx="10508508" cy="4503906"/>
        </p:xfrm>
        <a:graphic>
          <a:graphicData uri="http://schemas.openxmlformats.org/drawingml/2006/table">
            <a:tbl>
              <a:tblPr/>
              <a:tblGrid>
                <a:gridCol w="5254254">
                  <a:extLst>
                    <a:ext uri="{9D8B030D-6E8A-4147-A177-3AD203B41FA5}">
                      <a16:colId xmlns:a16="http://schemas.microsoft.com/office/drawing/2014/main" val="3883044995"/>
                    </a:ext>
                  </a:extLst>
                </a:gridCol>
                <a:gridCol w="5254254">
                  <a:extLst>
                    <a:ext uri="{9D8B030D-6E8A-4147-A177-3AD203B41FA5}">
                      <a16:colId xmlns:a16="http://schemas.microsoft.com/office/drawing/2014/main" val="582155494"/>
                    </a:ext>
                  </a:extLst>
                </a:gridCol>
              </a:tblGrid>
              <a:tr h="1566576">
                <a:tc>
                  <a:txBody>
                    <a:bodyPr/>
                    <a:lstStyle/>
                    <a:p>
                      <a:r>
                        <a:rPr lang="en-US">
                          <a:hlinkClick r:id="rId3"/>
                        </a:rPr>
                        <a:t>keySet()</a:t>
                      </a:r>
                      <a:endParaRPr lang="en-US"/>
                    </a:p>
                  </a:txBody>
                  <a:tcPr anchor="ctr">
                    <a:lnL>
                      <a:noFill/>
                    </a:lnL>
                    <a:lnR>
                      <a:noFill/>
                    </a:lnR>
                    <a:lnT>
                      <a:noFill/>
                    </a:lnT>
                    <a:lnB>
                      <a:noFill/>
                    </a:lnB>
                    <a:noFill/>
                  </a:tcPr>
                </a:tc>
                <a:tc>
                  <a:txBody>
                    <a:bodyPr/>
                    <a:lstStyle/>
                    <a:p>
                      <a:r>
                        <a:rPr lang="en-US"/>
                        <a:t>This method is used in Map Interface to return a Set view of the keys contained in this map. The set is backed by the map, so changes to the map are reflected in the set, and vice-versa.</a:t>
                      </a:r>
                    </a:p>
                  </a:txBody>
                  <a:tcPr anchor="ctr">
                    <a:lnL>
                      <a:noFill/>
                    </a:lnL>
                    <a:lnR>
                      <a:noFill/>
                    </a:lnR>
                    <a:lnT>
                      <a:noFill/>
                    </a:lnT>
                    <a:lnB>
                      <a:noFill/>
                    </a:lnB>
                    <a:noFill/>
                  </a:tcPr>
                </a:tc>
                <a:extLst>
                  <a:ext uri="{0D108BD9-81ED-4DB2-BD59-A6C34878D82A}">
                    <a16:rowId xmlns:a16="http://schemas.microsoft.com/office/drawing/2014/main" val="1035865198"/>
                  </a:ext>
                </a:extLst>
              </a:tr>
              <a:tr h="979110">
                <a:tc>
                  <a:txBody>
                    <a:bodyPr/>
                    <a:lstStyle/>
                    <a:p>
                      <a:r>
                        <a:rPr lang="en-US">
                          <a:hlinkClick r:id="rId4"/>
                        </a:rPr>
                        <a:t>put(Object, Object)</a:t>
                      </a:r>
                      <a:endParaRPr lang="en-US"/>
                    </a:p>
                  </a:txBody>
                  <a:tcPr anchor="ctr">
                    <a:lnL>
                      <a:noFill/>
                    </a:lnL>
                    <a:lnR>
                      <a:noFill/>
                    </a:lnR>
                    <a:lnT>
                      <a:noFill/>
                    </a:lnT>
                    <a:lnB>
                      <a:noFill/>
                    </a:lnB>
                    <a:noFill/>
                  </a:tcPr>
                </a:tc>
                <a:tc>
                  <a:txBody>
                    <a:bodyPr/>
                    <a:lstStyle/>
                    <a:p>
                      <a:r>
                        <a:rPr lang="en-US"/>
                        <a:t>This method is used in Java Map Interface to associate the specified value with the specified key in this map.</a:t>
                      </a:r>
                    </a:p>
                  </a:txBody>
                  <a:tcPr anchor="ctr">
                    <a:lnL>
                      <a:noFill/>
                    </a:lnL>
                    <a:lnR>
                      <a:noFill/>
                    </a:lnR>
                    <a:lnT>
                      <a:noFill/>
                    </a:lnT>
                    <a:lnB>
                      <a:noFill/>
                    </a:lnB>
                    <a:noFill/>
                  </a:tcPr>
                </a:tc>
                <a:extLst>
                  <a:ext uri="{0D108BD9-81ED-4DB2-BD59-A6C34878D82A}">
                    <a16:rowId xmlns:a16="http://schemas.microsoft.com/office/drawing/2014/main" val="2442016164"/>
                  </a:ext>
                </a:extLst>
              </a:tr>
              <a:tr h="979110">
                <a:tc>
                  <a:txBody>
                    <a:bodyPr/>
                    <a:lstStyle/>
                    <a:p>
                      <a:r>
                        <a:rPr lang="en-US">
                          <a:hlinkClick r:id="rId5"/>
                        </a:rPr>
                        <a:t>putAll(Map)</a:t>
                      </a:r>
                      <a:endParaRPr lang="en-US"/>
                    </a:p>
                  </a:txBody>
                  <a:tcPr anchor="ctr">
                    <a:lnL>
                      <a:noFill/>
                    </a:lnL>
                    <a:lnR>
                      <a:noFill/>
                    </a:lnR>
                    <a:lnT>
                      <a:noFill/>
                    </a:lnT>
                    <a:lnB>
                      <a:noFill/>
                    </a:lnB>
                    <a:noFill/>
                  </a:tcPr>
                </a:tc>
                <a:tc>
                  <a:txBody>
                    <a:bodyPr/>
                    <a:lstStyle/>
                    <a:p>
                      <a:r>
                        <a:rPr lang="en-US"/>
                        <a:t>This method is used in Map Interface in Java to copy all of the mappings from the specified map to this map.</a:t>
                      </a:r>
                    </a:p>
                  </a:txBody>
                  <a:tcPr anchor="ctr">
                    <a:lnL>
                      <a:noFill/>
                    </a:lnL>
                    <a:lnR>
                      <a:noFill/>
                    </a:lnR>
                    <a:lnT>
                      <a:noFill/>
                    </a:lnT>
                    <a:lnB>
                      <a:noFill/>
                    </a:lnB>
                    <a:noFill/>
                  </a:tcPr>
                </a:tc>
                <a:extLst>
                  <a:ext uri="{0D108BD9-81ED-4DB2-BD59-A6C34878D82A}">
                    <a16:rowId xmlns:a16="http://schemas.microsoft.com/office/drawing/2014/main" val="1231714829"/>
                  </a:ext>
                </a:extLst>
              </a:tr>
              <a:tr h="979110">
                <a:tc>
                  <a:txBody>
                    <a:bodyPr/>
                    <a:lstStyle/>
                    <a:p>
                      <a:r>
                        <a:rPr lang="en-US">
                          <a:hlinkClick r:id="rId6"/>
                        </a:rPr>
                        <a:t>remove(Object)</a:t>
                      </a:r>
                      <a:endParaRPr lang="en-US"/>
                    </a:p>
                  </a:txBody>
                  <a:tcPr anchor="ctr">
                    <a:lnL>
                      <a:noFill/>
                    </a:lnL>
                    <a:lnR>
                      <a:noFill/>
                    </a:lnR>
                    <a:lnT>
                      <a:noFill/>
                    </a:lnT>
                    <a:lnB>
                      <a:noFill/>
                    </a:lnB>
                    <a:noFill/>
                  </a:tcPr>
                </a:tc>
                <a:tc>
                  <a:txBody>
                    <a:bodyPr/>
                    <a:lstStyle/>
                    <a:p>
                      <a:r>
                        <a:rPr lang="en-US" dirty="0"/>
                        <a:t>This method is used in Map Interface to remove the mapping for a key from this map if it is present in the map.</a:t>
                      </a:r>
                    </a:p>
                  </a:txBody>
                  <a:tcPr anchor="ctr">
                    <a:lnL>
                      <a:noFill/>
                    </a:lnL>
                    <a:lnR>
                      <a:noFill/>
                    </a:lnR>
                    <a:lnT>
                      <a:noFill/>
                    </a:lnT>
                    <a:lnB>
                      <a:noFill/>
                    </a:lnB>
                    <a:noFill/>
                  </a:tcPr>
                </a:tc>
                <a:extLst>
                  <a:ext uri="{0D108BD9-81ED-4DB2-BD59-A6C34878D82A}">
                    <a16:rowId xmlns:a16="http://schemas.microsoft.com/office/drawing/2014/main" val="188654005"/>
                  </a:ext>
                </a:extLst>
              </a:tr>
            </a:tbl>
          </a:graphicData>
        </a:graphic>
      </p:graphicFrame>
    </p:spTree>
    <p:extLst>
      <p:ext uri="{BB962C8B-B14F-4D97-AF65-F5344CB8AC3E}">
        <p14:creationId xmlns:p14="http://schemas.microsoft.com/office/powerpoint/2010/main" val="22276892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graphicFrame>
        <p:nvGraphicFramePr>
          <p:cNvPr id="2" name="Content Placeholder 1">
            <a:extLst>
              <a:ext uri="{FF2B5EF4-FFF2-40B4-BE49-F238E27FC236}">
                <a16:creationId xmlns:a16="http://schemas.microsoft.com/office/drawing/2014/main" id="{9F217465-BCEC-94C4-281D-F28A975B6D6D}"/>
              </a:ext>
            </a:extLst>
          </p:cNvPr>
          <p:cNvGraphicFramePr>
            <a:graphicFrameLocks noGrp="1"/>
          </p:cNvGraphicFramePr>
          <p:nvPr>
            <p:ph sz="half" idx="2"/>
          </p:nvPr>
        </p:nvGraphicFramePr>
        <p:xfrm>
          <a:off x="1553369" y="3020219"/>
          <a:ext cx="9918700" cy="1828800"/>
        </p:xfrm>
        <a:graphic>
          <a:graphicData uri="http://schemas.openxmlformats.org/drawingml/2006/table">
            <a:tbl>
              <a:tblPr/>
              <a:tblGrid>
                <a:gridCol w="4959350">
                  <a:extLst>
                    <a:ext uri="{9D8B030D-6E8A-4147-A177-3AD203B41FA5}">
                      <a16:colId xmlns:a16="http://schemas.microsoft.com/office/drawing/2014/main" val="3297904904"/>
                    </a:ext>
                  </a:extLst>
                </a:gridCol>
                <a:gridCol w="4959350">
                  <a:extLst>
                    <a:ext uri="{9D8B030D-6E8A-4147-A177-3AD203B41FA5}">
                      <a16:colId xmlns:a16="http://schemas.microsoft.com/office/drawing/2014/main" val="3036278313"/>
                    </a:ext>
                  </a:extLst>
                </a:gridCol>
              </a:tblGrid>
              <a:tr h="0">
                <a:tc>
                  <a:txBody>
                    <a:bodyPr/>
                    <a:lstStyle/>
                    <a:p>
                      <a:r>
                        <a:rPr lang="en-US">
                          <a:hlinkClick r:id="rId3"/>
                        </a:rPr>
                        <a:t>size()</a:t>
                      </a:r>
                      <a:endParaRPr lang="en-US"/>
                    </a:p>
                  </a:txBody>
                  <a:tcPr anchor="ctr">
                    <a:lnL>
                      <a:noFill/>
                    </a:lnL>
                    <a:lnR>
                      <a:noFill/>
                    </a:lnR>
                    <a:lnT>
                      <a:noFill/>
                    </a:lnT>
                    <a:lnB>
                      <a:noFill/>
                    </a:lnB>
                    <a:noFill/>
                  </a:tcPr>
                </a:tc>
                <a:tc>
                  <a:txBody>
                    <a:bodyPr/>
                    <a:lstStyle/>
                    <a:p>
                      <a:r>
                        <a:rPr lang="en-US"/>
                        <a:t>This method is used to return the number of key/value pairs available in the map.</a:t>
                      </a:r>
                    </a:p>
                  </a:txBody>
                  <a:tcPr anchor="ctr">
                    <a:lnL>
                      <a:noFill/>
                    </a:lnL>
                    <a:lnR>
                      <a:noFill/>
                    </a:lnR>
                    <a:lnT>
                      <a:noFill/>
                    </a:lnT>
                    <a:lnB>
                      <a:noFill/>
                    </a:lnB>
                    <a:noFill/>
                  </a:tcPr>
                </a:tc>
                <a:extLst>
                  <a:ext uri="{0D108BD9-81ED-4DB2-BD59-A6C34878D82A}">
                    <a16:rowId xmlns:a16="http://schemas.microsoft.com/office/drawing/2014/main" val="347908249"/>
                  </a:ext>
                </a:extLst>
              </a:tr>
              <a:tr h="0">
                <a:tc>
                  <a:txBody>
                    <a:bodyPr/>
                    <a:lstStyle/>
                    <a:p>
                      <a:r>
                        <a:rPr lang="en-US">
                          <a:hlinkClick r:id="rId4"/>
                        </a:rPr>
                        <a:t>values()</a:t>
                      </a:r>
                      <a:endParaRPr lang="en-US"/>
                    </a:p>
                  </a:txBody>
                  <a:tcPr anchor="ctr">
                    <a:lnL>
                      <a:noFill/>
                    </a:lnL>
                    <a:lnR>
                      <a:noFill/>
                    </a:lnR>
                    <a:lnT>
                      <a:noFill/>
                    </a:lnT>
                    <a:lnB>
                      <a:noFill/>
                    </a:lnB>
                    <a:noFill/>
                  </a:tcPr>
                </a:tc>
                <a:tc>
                  <a:txBody>
                    <a:bodyPr/>
                    <a:lstStyle/>
                    <a:p>
                      <a:r>
                        <a:rPr lang="en-US" dirty="0"/>
                        <a:t>This method is used in Java Map Interface to create a collection out of the values of the map. It basically returns a Collection view of the values in the HashMap</a:t>
                      </a:r>
                    </a:p>
                  </a:txBody>
                  <a:tcPr anchor="ctr">
                    <a:lnL>
                      <a:noFill/>
                    </a:lnL>
                    <a:lnR>
                      <a:noFill/>
                    </a:lnR>
                    <a:lnT>
                      <a:noFill/>
                    </a:lnT>
                    <a:lnB>
                      <a:noFill/>
                    </a:lnB>
                    <a:noFill/>
                  </a:tcPr>
                </a:tc>
                <a:extLst>
                  <a:ext uri="{0D108BD9-81ED-4DB2-BD59-A6C34878D82A}">
                    <a16:rowId xmlns:a16="http://schemas.microsoft.com/office/drawing/2014/main" val="2141637528"/>
                  </a:ext>
                </a:extLst>
              </a:tr>
            </a:tbl>
          </a:graphicData>
        </a:graphic>
      </p:graphicFrame>
    </p:spTree>
    <p:extLst>
      <p:ext uri="{BB962C8B-B14F-4D97-AF65-F5344CB8AC3E}">
        <p14:creationId xmlns:p14="http://schemas.microsoft.com/office/powerpoint/2010/main" val="2962229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1280160"/>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280160" y="2327440"/>
            <a:ext cx="4846320" cy="4040574"/>
          </a:xfrm>
        </p:spPr>
        <p:txBody>
          <a:bodyPr>
            <a:normAutofit/>
          </a:bodyPr>
          <a:lstStyle/>
          <a:p>
            <a:r>
              <a:rPr lang="en-US" dirty="0"/>
              <a:t>Classes that implement the Map interface are depicted in the below media and described later as follows:</a:t>
            </a:r>
          </a:p>
          <a:p>
            <a:r>
              <a:rPr lang="en-US" dirty="0"/>
              <a:t>	</a:t>
            </a:r>
          </a:p>
        </p:txBody>
      </p:sp>
      <p:pic>
        <p:nvPicPr>
          <p:cNvPr id="4" name="Picture 3" descr="A diagram of a map&#10;&#10;Description automatically generated">
            <a:extLst>
              <a:ext uri="{FF2B5EF4-FFF2-40B4-BE49-F238E27FC236}">
                <a16:creationId xmlns:a16="http://schemas.microsoft.com/office/drawing/2014/main" id="{3550D8A2-93EE-78F5-7EB8-B2270C876F18}"/>
              </a:ext>
            </a:extLst>
          </p:cNvPr>
          <p:cNvPicPr>
            <a:picLocks noChangeAspect="1"/>
          </p:cNvPicPr>
          <p:nvPr/>
        </p:nvPicPr>
        <p:blipFill>
          <a:blip r:embed="rId3"/>
          <a:stretch>
            <a:fillRect/>
          </a:stretch>
        </p:blipFill>
        <p:spPr>
          <a:xfrm>
            <a:off x="6723402" y="2669690"/>
            <a:ext cx="4846320" cy="3356076"/>
          </a:xfrm>
          <a:prstGeom prst="rect">
            <a:avLst/>
          </a:prstGeom>
          <a:noFill/>
        </p:spPr>
      </p:pic>
    </p:spTree>
    <p:extLst>
      <p:ext uri="{BB962C8B-B14F-4D97-AF65-F5344CB8AC3E}">
        <p14:creationId xmlns:p14="http://schemas.microsoft.com/office/powerpoint/2010/main" val="3241915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5290457"/>
          </a:xfrm>
        </p:spPr>
        <p:txBody>
          <a:bodyPr>
            <a:normAutofit fontScale="92500" lnSpcReduction="20000"/>
          </a:bodyPr>
          <a:lstStyle/>
          <a:p>
            <a:r>
              <a:rPr lang="en-US" b="1" dirty="0"/>
              <a:t>1. HashMap </a:t>
            </a:r>
          </a:p>
          <a:p>
            <a:r>
              <a:rPr lang="en-US" dirty="0"/>
              <a:t>	HashMap is a part of Java’s collection since Java 1.2. It provides the basic implementation of the Map interface of Java. It stores the data in (Key, Value) pairs. To access a value one must know its key. This class uses a technique called Hashing. Hashing is a technique of converting a large String to a small String that represents the same String. A shorter value helps in indexing and faster searches. Let’s see how to create a map object using this class.</a:t>
            </a:r>
          </a:p>
          <a:p>
            <a:r>
              <a:rPr lang="en-US" dirty="0"/>
              <a:t>	 </a:t>
            </a:r>
            <a:r>
              <a:rPr lang="en-US" sz="1600" dirty="0"/>
              <a:t>Map&lt;String, Integer&gt; map = new HashMap&lt;&gt;(); </a:t>
            </a:r>
          </a:p>
          <a:p>
            <a:r>
              <a:rPr lang="en-US" sz="1600" dirty="0"/>
              <a:t>        // Inserting entries in the Map </a:t>
            </a:r>
          </a:p>
          <a:p>
            <a:r>
              <a:rPr lang="en-US" sz="1600" dirty="0"/>
              <a:t>        // using put() method </a:t>
            </a:r>
          </a:p>
          <a:p>
            <a:r>
              <a:rPr lang="en-US" sz="1600" dirty="0"/>
              <a:t>        </a:t>
            </a:r>
            <a:r>
              <a:rPr lang="en-US" sz="1600" dirty="0" err="1"/>
              <a:t>map.put</a:t>
            </a:r>
            <a:r>
              <a:rPr lang="en-US" sz="1600" dirty="0"/>
              <a:t>("</a:t>
            </a:r>
            <a:r>
              <a:rPr lang="en-US" sz="1600" dirty="0" err="1"/>
              <a:t>vishal</a:t>
            </a:r>
            <a:r>
              <a:rPr lang="en-US" sz="1600" dirty="0"/>
              <a:t>", 10); </a:t>
            </a:r>
          </a:p>
          <a:p>
            <a:r>
              <a:rPr lang="en-US" sz="1600" dirty="0"/>
              <a:t>        </a:t>
            </a:r>
            <a:r>
              <a:rPr lang="en-US" sz="1600" dirty="0" err="1"/>
              <a:t>map.put</a:t>
            </a:r>
            <a:r>
              <a:rPr lang="en-US" sz="1600" dirty="0"/>
              <a:t>("</a:t>
            </a:r>
            <a:r>
              <a:rPr lang="en-US" sz="1600" dirty="0" err="1"/>
              <a:t>sachin</a:t>
            </a:r>
            <a:r>
              <a:rPr lang="en-US" sz="1600" dirty="0"/>
              <a:t>", 30); </a:t>
            </a:r>
          </a:p>
          <a:p>
            <a:r>
              <a:rPr lang="en-US" sz="1600" dirty="0"/>
              <a:t>        </a:t>
            </a:r>
            <a:r>
              <a:rPr lang="en-US" sz="1600" dirty="0" err="1"/>
              <a:t>map.put</a:t>
            </a:r>
            <a:r>
              <a:rPr lang="en-US" sz="1600" dirty="0"/>
              <a:t>("</a:t>
            </a:r>
            <a:r>
              <a:rPr lang="en-US" sz="1600" dirty="0" err="1"/>
              <a:t>vaibhav</a:t>
            </a:r>
            <a:r>
              <a:rPr lang="en-US" sz="1600" dirty="0"/>
              <a:t>", 20); </a:t>
            </a:r>
          </a:p>
          <a:p>
            <a:r>
              <a:rPr lang="en-US" sz="1600" dirty="0"/>
              <a:t>  </a:t>
            </a:r>
          </a:p>
          <a:p>
            <a:r>
              <a:rPr lang="en-US" sz="1600" dirty="0"/>
              <a:t>        // Iterating over Map </a:t>
            </a:r>
          </a:p>
          <a:p>
            <a:r>
              <a:rPr lang="en-US" sz="1600" dirty="0"/>
              <a:t>        for (</a:t>
            </a:r>
            <a:r>
              <a:rPr lang="en-US" sz="1600" dirty="0" err="1"/>
              <a:t>Map.Entry</a:t>
            </a:r>
            <a:r>
              <a:rPr lang="en-US" sz="1600" dirty="0"/>
              <a:t>&lt;String, Integer&gt; e : </a:t>
            </a:r>
            <a:r>
              <a:rPr lang="en-US" sz="1600" dirty="0" err="1"/>
              <a:t>map.entrySet</a:t>
            </a:r>
            <a:r>
              <a:rPr lang="en-US" sz="1600" dirty="0"/>
              <a:t>()) </a:t>
            </a:r>
          </a:p>
          <a:p>
            <a:r>
              <a:rPr lang="en-US" sz="1600" dirty="0"/>
              <a:t>            // Printing key-value pairs </a:t>
            </a:r>
          </a:p>
          <a:p>
            <a:r>
              <a:rPr lang="en-US" sz="1600" dirty="0"/>
              <a:t>            </a:t>
            </a:r>
            <a:r>
              <a:rPr lang="en-US" sz="1600" dirty="0" err="1"/>
              <a:t>System.out.println</a:t>
            </a:r>
            <a:r>
              <a:rPr lang="en-US" sz="1600" dirty="0"/>
              <a:t>(</a:t>
            </a:r>
            <a:r>
              <a:rPr lang="en-US" sz="1600" dirty="0" err="1"/>
              <a:t>e.getKey</a:t>
            </a:r>
            <a:r>
              <a:rPr lang="en-US" sz="1600" dirty="0"/>
              <a:t>() + " "</a:t>
            </a:r>
          </a:p>
          <a:p>
            <a:r>
              <a:rPr lang="en-US" sz="1600" dirty="0"/>
              <a:t>                               + </a:t>
            </a:r>
            <a:r>
              <a:rPr lang="en-US" sz="1600" dirty="0" err="1"/>
              <a:t>e.getValue</a:t>
            </a:r>
            <a:r>
              <a:rPr lang="en-US" sz="1600" dirty="0"/>
              <a:t>()); </a:t>
            </a:r>
          </a:p>
          <a:p>
            <a:r>
              <a:rPr lang="en-US" dirty="0"/>
              <a:t>		</a:t>
            </a:r>
          </a:p>
          <a:p>
            <a:endParaRPr lang="en-US" dirty="0"/>
          </a:p>
        </p:txBody>
      </p:sp>
    </p:spTree>
    <p:extLst>
      <p:ext uri="{BB962C8B-B14F-4D97-AF65-F5344CB8AC3E}">
        <p14:creationId xmlns:p14="http://schemas.microsoft.com/office/powerpoint/2010/main" val="3232486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2. </a:t>
            </a:r>
            <a:r>
              <a:rPr lang="en-US" b="1" dirty="0" err="1"/>
              <a:t>LinkedHashMap</a:t>
            </a:r>
            <a:endParaRPr lang="en-US" b="1" dirty="0"/>
          </a:p>
          <a:p>
            <a:r>
              <a:rPr lang="en-US" dirty="0"/>
              <a:t>	</a:t>
            </a:r>
            <a:r>
              <a:rPr lang="en-US" dirty="0" err="1"/>
              <a:t>LinkedHashMap</a:t>
            </a:r>
            <a:r>
              <a:rPr lang="en-US" dirty="0"/>
              <a:t> is just like HashMap with the additional feature of maintaining an order of elements inserted into it. HashMap provided the advantage of quick insertion, search, and deletion but it never maintained the track and order of insertion which the </a:t>
            </a:r>
            <a:r>
              <a:rPr lang="en-US" dirty="0" err="1"/>
              <a:t>LinkedHashMap</a:t>
            </a:r>
            <a:r>
              <a:rPr lang="en-US" dirty="0"/>
              <a:t> provides where the elements can be accessed in their insertion order. Let’s see how to create a map object using this class.</a:t>
            </a:r>
          </a:p>
          <a:p>
            <a:r>
              <a:rPr lang="en-US" b="1" dirty="0"/>
              <a:t>3. </a:t>
            </a:r>
            <a:r>
              <a:rPr lang="en-US" b="1" dirty="0" err="1"/>
              <a:t>TreeMap</a:t>
            </a:r>
            <a:endParaRPr lang="en-US" b="1" dirty="0"/>
          </a:p>
          <a:p>
            <a:r>
              <a:rPr lang="en-US" dirty="0"/>
              <a:t>	The </a:t>
            </a:r>
            <a:r>
              <a:rPr lang="en-US" dirty="0" err="1"/>
              <a:t>TreeMap</a:t>
            </a:r>
            <a:r>
              <a:rPr lang="en-US" dirty="0"/>
              <a:t> in Java is used to implement the Map interface and </a:t>
            </a:r>
            <a:r>
              <a:rPr lang="en-US" dirty="0" err="1"/>
              <a:t>NavigableMap</a:t>
            </a:r>
            <a:r>
              <a:rPr lang="en-US" dirty="0"/>
              <a:t> along with the Abstract Class. The map is sorted according to the natural ordering of its keys, or by a Comparator provided at map creation time, depending on which constructor is used. This proves to be an efficient way of sorting and storing the key-value pairs. The storing order maintained by the </a:t>
            </a:r>
            <a:r>
              <a:rPr lang="en-US" dirty="0" err="1"/>
              <a:t>treemap</a:t>
            </a:r>
            <a:r>
              <a:rPr lang="en-US" dirty="0"/>
              <a:t> must be consistent with equals just like any other sorted map, irrespective of the explicit comparators. Let’s see how to create a map object using this class.</a:t>
            </a:r>
          </a:p>
          <a:p>
            <a:endParaRPr lang="en-US" dirty="0"/>
          </a:p>
        </p:txBody>
      </p:sp>
    </p:spTree>
    <p:extLst>
      <p:ext uri="{BB962C8B-B14F-4D97-AF65-F5344CB8AC3E}">
        <p14:creationId xmlns:p14="http://schemas.microsoft.com/office/powerpoint/2010/main" val="40219023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Performing Operations using Map Interface and HashMap Class</a:t>
            </a:r>
          </a:p>
          <a:p>
            <a:r>
              <a:rPr lang="en-US" dirty="0"/>
              <a:t>	Since Map is an interface, it can be used only with a class that implements this interface. Now, let’s see how to perform a few frequently used operations on a Map using the widely used HashMap class. And also, after the introduction of Generics in Java 1.5, it is possible to restrict the type of object that can be stored in the map. </a:t>
            </a:r>
          </a:p>
          <a:p>
            <a:r>
              <a:rPr lang="en-US" b="1" dirty="0"/>
              <a:t>1. Adding Elements</a:t>
            </a:r>
          </a:p>
          <a:p>
            <a:r>
              <a:rPr lang="en-US" dirty="0"/>
              <a:t>	In order to add an element to the map, we can use the put() method. However, the insertion order is not retained in the </a:t>
            </a:r>
            <a:r>
              <a:rPr lang="en-US" dirty="0" err="1"/>
              <a:t>hashmap</a:t>
            </a:r>
            <a:r>
              <a:rPr lang="en-US" dirty="0"/>
              <a:t>. Internally, for every element, a separate hash is generated and the elements are indexed based on this hash to make it more efficient.</a:t>
            </a:r>
          </a:p>
          <a:p>
            <a:endParaRPr lang="en-US" dirty="0"/>
          </a:p>
        </p:txBody>
      </p:sp>
    </p:spTree>
    <p:extLst>
      <p:ext uri="{BB962C8B-B14F-4D97-AF65-F5344CB8AC3E}">
        <p14:creationId xmlns:p14="http://schemas.microsoft.com/office/powerpoint/2010/main" val="1209485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fontScale="85000" lnSpcReduction="20000"/>
          </a:bodyPr>
          <a:lstStyle/>
          <a:p>
            <a:r>
              <a:rPr lang="en-US" dirty="0"/>
              <a:t>// Default Initialization of a </a:t>
            </a:r>
          </a:p>
          <a:p>
            <a:r>
              <a:rPr lang="en-US" dirty="0"/>
              <a:t>        // Map </a:t>
            </a:r>
          </a:p>
          <a:p>
            <a:r>
              <a:rPr lang="en-US" dirty="0"/>
              <a:t>        Map&lt;Integer, String&gt; hm1 = new HashMap&lt;&gt;(); </a:t>
            </a:r>
          </a:p>
          <a:p>
            <a:r>
              <a:rPr lang="en-US" dirty="0"/>
              <a:t>  </a:t>
            </a:r>
          </a:p>
          <a:p>
            <a:r>
              <a:rPr lang="en-US" dirty="0"/>
              <a:t>        // Initialization of a Map </a:t>
            </a:r>
          </a:p>
          <a:p>
            <a:r>
              <a:rPr lang="en-US" dirty="0"/>
              <a:t>        // using Generics </a:t>
            </a:r>
          </a:p>
          <a:p>
            <a:r>
              <a:rPr lang="en-US" dirty="0"/>
              <a:t>        Map&lt;Integer, String&gt; hm2 </a:t>
            </a:r>
          </a:p>
          <a:p>
            <a:r>
              <a:rPr lang="en-US" dirty="0"/>
              <a:t>            = new HashMap&lt;Integer, String&gt;(); </a:t>
            </a:r>
          </a:p>
          <a:p>
            <a:r>
              <a:rPr lang="en-US" dirty="0"/>
              <a:t>  </a:t>
            </a:r>
          </a:p>
          <a:p>
            <a:r>
              <a:rPr lang="en-US" dirty="0"/>
              <a:t>        // Inserting the Elements </a:t>
            </a:r>
          </a:p>
          <a:p>
            <a:r>
              <a:rPr lang="en-US" dirty="0"/>
              <a:t>        hm1.put(1, "Sai"); </a:t>
            </a:r>
          </a:p>
          <a:p>
            <a:r>
              <a:rPr lang="en-US" dirty="0"/>
              <a:t>        hm1.put(2, "Anil"); </a:t>
            </a:r>
          </a:p>
          <a:p>
            <a:r>
              <a:rPr lang="en-US" dirty="0"/>
              <a:t>        hm1.put(3, "Ravi"); </a:t>
            </a:r>
          </a:p>
          <a:p>
            <a:r>
              <a:rPr lang="en-US" dirty="0"/>
              <a:t>  </a:t>
            </a:r>
          </a:p>
          <a:p>
            <a:r>
              <a:rPr lang="en-US" dirty="0"/>
              <a:t>        hm2.put(new Integer(1), "Sai"); </a:t>
            </a:r>
          </a:p>
          <a:p>
            <a:r>
              <a:rPr lang="en-US" dirty="0"/>
              <a:t>        hm2.put(new Integer(2), "Anil"); </a:t>
            </a:r>
          </a:p>
          <a:p>
            <a:r>
              <a:rPr lang="en-US" dirty="0"/>
              <a:t>        hm2.put(new Integer(3), "Ravi"); </a:t>
            </a:r>
          </a:p>
        </p:txBody>
      </p:sp>
    </p:spTree>
    <p:extLst>
      <p:ext uri="{BB962C8B-B14F-4D97-AF65-F5344CB8AC3E}">
        <p14:creationId xmlns:p14="http://schemas.microsoft.com/office/powerpoint/2010/main" val="17443129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fontScale="92500" lnSpcReduction="10000"/>
          </a:bodyPr>
          <a:lstStyle/>
          <a:p>
            <a:r>
              <a:rPr lang="en-US" b="1" dirty="0"/>
              <a:t>2. Changing Element</a:t>
            </a:r>
          </a:p>
          <a:p>
            <a:r>
              <a:rPr lang="en-US" dirty="0"/>
              <a:t>	After adding the elements if we wish to change the element, it can be done by again adding the element with the put() method. Since the elements in the map are indexed using the keys, the value of the key can be changed by simply inserting the updated value for the key for which we wish to change. </a:t>
            </a:r>
          </a:p>
          <a:p>
            <a:r>
              <a:rPr lang="en-US" dirty="0"/>
              <a:t>	</a:t>
            </a:r>
          </a:p>
          <a:p>
            <a:r>
              <a:rPr lang="en-US" dirty="0"/>
              <a:t> // using Generics </a:t>
            </a:r>
          </a:p>
          <a:p>
            <a:r>
              <a:rPr lang="en-US" dirty="0"/>
              <a:t>        Map&lt;Integer, String&gt; hm1 </a:t>
            </a:r>
          </a:p>
          <a:p>
            <a:r>
              <a:rPr lang="en-US" dirty="0"/>
              <a:t>            = new HashMap&lt;Integer, String&gt;();   </a:t>
            </a:r>
          </a:p>
          <a:p>
            <a:r>
              <a:rPr lang="en-US" dirty="0"/>
              <a:t>        // Inserting the Elements </a:t>
            </a:r>
          </a:p>
          <a:p>
            <a:r>
              <a:rPr lang="en-US" dirty="0"/>
              <a:t>        hm1.put(new Integer(1), "Sai"); </a:t>
            </a:r>
          </a:p>
          <a:p>
            <a:r>
              <a:rPr lang="en-US" dirty="0"/>
              <a:t>        hm1.put(new Integer(2), "Ravi"); </a:t>
            </a:r>
          </a:p>
          <a:p>
            <a:r>
              <a:rPr lang="en-US" dirty="0"/>
              <a:t>        hm1.put(new Integer(3), "Anil");   </a:t>
            </a:r>
          </a:p>
          <a:p>
            <a:r>
              <a:rPr lang="en-US" dirty="0"/>
              <a:t>        </a:t>
            </a:r>
            <a:r>
              <a:rPr lang="en-US" dirty="0" err="1"/>
              <a:t>System.out.println</a:t>
            </a:r>
            <a:r>
              <a:rPr lang="en-US" dirty="0"/>
              <a:t>("Initial Map " + hm1);   </a:t>
            </a:r>
          </a:p>
          <a:p>
            <a:r>
              <a:rPr lang="en-US" dirty="0"/>
              <a:t>        hm1.put(new Integer(2), "Vaibhav");   </a:t>
            </a:r>
          </a:p>
          <a:p>
            <a:r>
              <a:rPr lang="en-US" dirty="0"/>
              <a:t>        </a:t>
            </a:r>
            <a:r>
              <a:rPr lang="en-US" dirty="0" err="1"/>
              <a:t>System.out.println</a:t>
            </a:r>
            <a:r>
              <a:rPr lang="en-US" dirty="0"/>
              <a:t>("Updated Map " + hm1); </a:t>
            </a:r>
          </a:p>
        </p:txBody>
      </p:sp>
    </p:spTree>
    <p:extLst>
      <p:ext uri="{BB962C8B-B14F-4D97-AF65-F5344CB8AC3E}">
        <p14:creationId xmlns:p14="http://schemas.microsoft.com/office/powerpoint/2010/main" val="11695647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lnSpcReduction="10000"/>
          </a:bodyPr>
          <a:lstStyle/>
          <a:p>
            <a:r>
              <a:rPr lang="en-US" b="1" dirty="0"/>
              <a:t>3. Removing Elements</a:t>
            </a:r>
          </a:p>
          <a:p>
            <a:r>
              <a:rPr lang="en-US" dirty="0"/>
              <a:t>	In order to remove an element from the Map, we can use the remove() method. This method takes the key value and removes the mapping for a key from this map if it is present in the map.</a:t>
            </a:r>
          </a:p>
          <a:p>
            <a:r>
              <a:rPr lang="en-US" dirty="0"/>
              <a:t>	hm1.remove(new Integer(4)); </a:t>
            </a:r>
          </a:p>
          <a:p>
            <a:r>
              <a:rPr lang="en-US" b="1" dirty="0"/>
              <a:t>4. Iterating through the Map</a:t>
            </a:r>
          </a:p>
          <a:p>
            <a:r>
              <a:rPr lang="en-US" dirty="0"/>
              <a:t>	There are multiple ways to iterate through the Map. The most famous way is to use a for-each loop and get the keys. The value of the key is found by using the </a:t>
            </a:r>
            <a:r>
              <a:rPr lang="en-US" dirty="0" err="1"/>
              <a:t>getValue</a:t>
            </a:r>
            <a:r>
              <a:rPr lang="en-US" dirty="0"/>
              <a:t>() method.</a:t>
            </a:r>
          </a:p>
          <a:p>
            <a:r>
              <a:rPr lang="en-US" dirty="0"/>
              <a:t>	for (</a:t>
            </a:r>
            <a:r>
              <a:rPr lang="en-US" dirty="0" err="1"/>
              <a:t>Map.Entry</a:t>
            </a:r>
            <a:r>
              <a:rPr lang="en-US" dirty="0"/>
              <a:t> </a:t>
            </a:r>
            <a:r>
              <a:rPr lang="en-US" dirty="0" err="1"/>
              <a:t>mapElement</a:t>
            </a:r>
            <a:r>
              <a:rPr lang="en-US" dirty="0"/>
              <a:t> : hm1.entrySet()) { </a:t>
            </a:r>
          </a:p>
          <a:p>
            <a:r>
              <a:rPr lang="en-US" dirty="0"/>
              <a:t>            int key = (int)</a:t>
            </a:r>
            <a:r>
              <a:rPr lang="en-US" dirty="0" err="1"/>
              <a:t>mapElement.getKey</a:t>
            </a:r>
            <a:r>
              <a:rPr lang="en-US" dirty="0"/>
              <a:t>(); </a:t>
            </a:r>
          </a:p>
          <a:p>
            <a:r>
              <a:rPr lang="en-US" dirty="0"/>
              <a:t>  </a:t>
            </a:r>
          </a:p>
          <a:p>
            <a:r>
              <a:rPr lang="en-US" dirty="0"/>
              <a:t>            // Finding the value </a:t>
            </a:r>
          </a:p>
          <a:p>
            <a:r>
              <a:rPr lang="en-US" dirty="0"/>
              <a:t>            String value = (String)</a:t>
            </a:r>
            <a:r>
              <a:rPr lang="en-US" dirty="0" err="1"/>
              <a:t>mapElement.getValue</a:t>
            </a:r>
            <a:r>
              <a:rPr lang="en-US" dirty="0"/>
              <a:t>(); </a:t>
            </a:r>
          </a:p>
          <a:p>
            <a:r>
              <a:rPr lang="en-US" dirty="0"/>
              <a:t>  </a:t>
            </a:r>
          </a:p>
          <a:p>
            <a:r>
              <a:rPr lang="en-US" dirty="0"/>
              <a:t>            </a:t>
            </a:r>
            <a:r>
              <a:rPr lang="en-US" dirty="0" err="1"/>
              <a:t>System.out.println</a:t>
            </a:r>
            <a:r>
              <a:rPr lang="en-US" dirty="0"/>
              <a:t>(key + " : " + value); </a:t>
            </a:r>
          </a:p>
          <a:p>
            <a:r>
              <a:rPr lang="en-US" dirty="0"/>
              <a:t>    } </a:t>
            </a:r>
          </a:p>
        </p:txBody>
      </p:sp>
    </p:spTree>
    <p:extLst>
      <p:ext uri="{BB962C8B-B14F-4D97-AF65-F5344CB8AC3E}">
        <p14:creationId xmlns:p14="http://schemas.microsoft.com/office/powerpoint/2010/main" val="482493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59" y="640080"/>
            <a:ext cx="4815836" cy="2103120"/>
          </a:xfrm>
        </p:spPr>
        <p:txBody>
          <a:bodyPr anchor="ctr">
            <a:normAutofit/>
          </a:bodyPr>
          <a:lstStyle/>
          <a:p>
            <a:r>
              <a:rPr lang="en-US" dirty="0"/>
              <a:t>Wrapper Classes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idx="1"/>
          </p:nvPr>
        </p:nvSpPr>
        <p:spPr>
          <a:xfrm>
            <a:off x="6531427" y="640080"/>
            <a:ext cx="5122889" cy="2103120"/>
          </a:xfrm>
        </p:spPr>
        <p:txBody>
          <a:bodyPr anchor="ctr">
            <a:normAutofit/>
          </a:bodyPr>
          <a:lstStyle/>
          <a:p>
            <a:r>
              <a:rPr lang="en-US" b="1" dirty="0"/>
              <a:t>Java Wrapper Classes</a:t>
            </a:r>
          </a:p>
          <a:p>
            <a:r>
              <a:rPr lang="en-US" dirty="0"/>
              <a:t>	Wrapper classes provide a way to use primitive data types (int, </a:t>
            </a:r>
            <a:r>
              <a:rPr lang="en-US" dirty="0" err="1"/>
              <a:t>boolean</a:t>
            </a:r>
            <a:r>
              <a:rPr lang="en-US" dirty="0"/>
              <a:t>, etc..) as objects.</a:t>
            </a:r>
          </a:p>
          <a:p>
            <a:r>
              <a:rPr lang="en-US" dirty="0"/>
              <a:t>	The table below shows the primitive type and the equivalent wrapper class:</a:t>
            </a:r>
          </a:p>
          <a:p>
            <a:endParaRPr lang="en-US" dirty="0"/>
          </a:p>
        </p:txBody>
      </p:sp>
      <p:graphicFrame>
        <p:nvGraphicFramePr>
          <p:cNvPr id="2" name="Table 1">
            <a:extLst>
              <a:ext uri="{FF2B5EF4-FFF2-40B4-BE49-F238E27FC236}">
                <a16:creationId xmlns:a16="http://schemas.microsoft.com/office/drawing/2014/main" id="{076A0E24-9B45-EF2F-0D99-1856BCB7F7F8}"/>
              </a:ext>
            </a:extLst>
          </p:cNvPr>
          <p:cNvGraphicFramePr>
            <a:graphicFrameLocks noGrp="1"/>
          </p:cNvGraphicFramePr>
          <p:nvPr>
            <p:extLst>
              <p:ext uri="{D42A27DB-BD31-4B8C-83A1-F6EECF244321}">
                <p14:modId xmlns:p14="http://schemas.microsoft.com/office/powerpoint/2010/main" val="695042880"/>
              </p:ext>
            </p:extLst>
          </p:nvPr>
        </p:nvGraphicFramePr>
        <p:xfrm>
          <a:off x="1956960" y="3017520"/>
          <a:ext cx="9020552" cy="3208869"/>
        </p:xfrm>
        <a:graphic>
          <a:graphicData uri="http://schemas.openxmlformats.org/drawingml/2006/table">
            <a:tbl>
              <a:tblPr/>
              <a:tblGrid>
                <a:gridCol w="5059228">
                  <a:extLst>
                    <a:ext uri="{9D8B030D-6E8A-4147-A177-3AD203B41FA5}">
                      <a16:colId xmlns:a16="http://schemas.microsoft.com/office/drawing/2014/main" val="2241456678"/>
                    </a:ext>
                  </a:extLst>
                </a:gridCol>
                <a:gridCol w="3961324">
                  <a:extLst>
                    <a:ext uri="{9D8B030D-6E8A-4147-A177-3AD203B41FA5}">
                      <a16:colId xmlns:a16="http://schemas.microsoft.com/office/drawing/2014/main" val="3928751658"/>
                    </a:ext>
                  </a:extLst>
                </a:gridCol>
              </a:tblGrid>
              <a:tr h="356541">
                <a:tc>
                  <a:txBody>
                    <a:bodyPr/>
                    <a:lstStyle/>
                    <a:p>
                      <a:r>
                        <a:rPr lang="en-US" sz="1600" b="1" dirty="0">
                          <a:effectLst/>
                        </a:rPr>
                        <a:t>Primitive Data Type</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b="1" dirty="0"/>
                        <a:t>Wrapper Class</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50334105"/>
                  </a:ext>
                </a:extLst>
              </a:tr>
              <a:tr h="356541">
                <a:tc>
                  <a:txBody>
                    <a:bodyPr/>
                    <a:lstStyle/>
                    <a:p>
                      <a:r>
                        <a:rPr lang="en-US" sz="1600"/>
                        <a:t>byte</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Byte</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36299795"/>
                  </a:ext>
                </a:extLst>
              </a:tr>
              <a:tr h="356541">
                <a:tc>
                  <a:txBody>
                    <a:bodyPr/>
                    <a:lstStyle/>
                    <a:p>
                      <a:r>
                        <a:rPr lang="en-US" sz="1600"/>
                        <a:t>short</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Short</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28478188"/>
                  </a:ext>
                </a:extLst>
              </a:tr>
              <a:tr h="356541">
                <a:tc>
                  <a:txBody>
                    <a:bodyPr/>
                    <a:lstStyle/>
                    <a:p>
                      <a:r>
                        <a:rPr lang="en-US" sz="1600"/>
                        <a:t>int</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Integer</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90557442"/>
                  </a:ext>
                </a:extLst>
              </a:tr>
              <a:tr h="356541">
                <a:tc>
                  <a:txBody>
                    <a:bodyPr/>
                    <a:lstStyle/>
                    <a:p>
                      <a:r>
                        <a:rPr lang="en-US" sz="1600"/>
                        <a:t>long</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Long</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03509374"/>
                  </a:ext>
                </a:extLst>
              </a:tr>
              <a:tr h="356541">
                <a:tc>
                  <a:txBody>
                    <a:bodyPr/>
                    <a:lstStyle/>
                    <a:p>
                      <a:r>
                        <a:rPr lang="en-US" sz="1600"/>
                        <a:t>float</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Float</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91206652"/>
                  </a:ext>
                </a:extLst>
              </a:tr>
              <a:tr h="356541">
                <a:tc>
                  <a:txBody>
                    <a:bodyPr/>
                    <a:lstStyle/>
                    <a:p>
                      <a:r>
                        <a:rPr lang="en-US" sz="1600"/>
                        <a:t>double</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Double</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48613368"/>
                  </a:ext>
                </a:extLst>
              </a:tr>
              <a:tr h="356541">
                <a:tc>
                  <a:txBody>
                    <a:bodyPr/>
                    <a:lstStyle/>
                    <a:p>
                      <a:r>
                        <a:rPr lang="en-US" sz="1600"/>
                        <a:t>boolean</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a:t>Boolean</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2170051"/>
                  </a:ext>
                </a:extLst>
              </a:tr>
              <a:tr h="356541">
                <a:tc>
                  <a:txBody>
                    <a:bodyPr/>
                    <a:lstStyle/>
                    <a:p>
                      <a:r>
                        <a:rPr lang="en-US" sz="1600"/>
                        <a:t>char</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600" dirty="0"/>
                        <a:t>Character</a:t>
                      </a:r>
                    </a:p>
                  </a:txBody>
                  <a:tcPr marL="81032" marR="81032" marT="40516" marB="4051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359091"/>
                  </a:ext>
                </a:extLst>
              </a:tr>
            </a:tbl>
          </a:graphicData>
        </a:graphic>
      </p:graphicFrame>
    </p:spTree>
    <p:extLst>
      <p:ext uri="{BB962C8B-B14F-4D97-AF65-F5344CB8AC3E}">
        <p14:creationId xmlns:p14="http://schemas.microsoft.com/office/powerpoint/2010/main" val="39861899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	Sometimes you must use wrapper classes, for example when working with Collection objects, such as </a:t>
            </a:r>
            <a:r>
              <a:rPr lang="en-US" dirty="0" err="1"/>
              <a:t>ArrayList</a:t>
            </a:r>
            <a:r>
              <a:rPr lang="en-US" dirty="0"/>
              <a:t>, where primitive types cannot be used (the list can only store objects):</a:t>
            </a:r>
          </a:p>
          <a:p>
            <a:endParaRPr lang="en-US" dirty="0"/>
          </a:p>
          <a:p>
            <a:r>
              <a:rPr lang="en-US" dirty="0"/>
              <a:t>Example</a:t>
            </a:r>
          </a:p>
          <a:p>
            <a:r>
              <a:rPr lang="en-US" dirty="0"/>
              <a:t>	</a:t>
            </a:r>
            <a:r>
              <a:rPr lang="en-US" dirty="0" err="1"/>
              <a:t>ArrayList</a:t>
            </a:r>
            <a:r>
              <a:rPr lang="en-US" dirty="0"/>
              <a:t>&lt;int&gt; </a:t>
            </a:r>
            <a:r>
              <a:rPr lang="en-US" dirty="0" err="1"/>
              <a:t>myNumbers</a:t>
            </a:r>
            <a:r>
              <a:rPr lang="en-US" dirty="0"/>
              <a:t> = new </a:t>
            </a:r>
            <a:r>
              <a:rPr lang="en-US" dirty="0" err="1"/>
              <a:t>ArrayList</a:t>
            </a:r>
            <a:r>
              <a:rPr lang="en-US" dirty="0"/>
              <a:t>&lt;int&gt;(); // Invalid</a:t>
            </a:r>
          </a:p>
          <a:p>
            <a:r>
              <a:rPr lang="en-US" dirty="0"/>
              <a:t>	</a:t>
            </a:r>
            <a:r>
              <a:rPr lang="en-US" dirty="0" err="1"/>
              <a:t>ArrayList</a:t>
            </a:r>
            <a:r>
              <a:rPr lang="en-US" dirty="0"/>
              <a:t>&lt;Integer&gt; </a:t>
            </a:r>
            <a:r>
              <a:rPr lang="en-US" dirty="0" err="1"/>
              <a:t>myNumbers</a:t>
            </a:r>
            <a:r>
              <a:rPr lang="en-US" dirty="0"/>
              <a:t> = new </a:t>
            </a:r>
            <a:r>
              <a:rPr lang="en-US" dirty="0" err="1"/>
              <a:t>ArrayList</a:t>
            </a:r>
            <a:r>
              <a:rPr lang="en-US" dirty="0"/>
              <a:t>&lt;Integer&gt;(); // Valid</a:t>
            </a:r>
          </a:p>
          <a:p>
            <a:endParaRPr lang="en-US" dirty="0"/>
          </a:p>
          <a:p>
            <a:r>
              <a:rPr lang="en-US" b="1" dirty="0"/>
              <a:t>Java Comparable interface</a:t>
            </a:r>
          </a:p>
          <a:p>
            <a:r>
              <a:rPr lang="en-US" dirty="0"/>
              <a:t>	Java Comparable interface is used to order the objects of the user-defined class. This interface is found in </a:t>
            </a:r>
            <a:r>
              <a:rPr lang="en-US" dirty="0" err="1"/>
              <a:t>java.lang</a:t>
            </a:r>
            <a:r>
              <a:rPr lang="en-US" dirty="0"/>
              <a:t> package and contains only one method named </a:t>
            </a:r>
            <a:r>
              <a:rPr lang="en-US" dirty="0" err="1"/>
              <a:t>compareTo</a:t>
            </a:r>
            <a:r>
              <a:rPr lang="en-US" dirty="0"/>
              <a:t>(Object). It provides a single sorting sequence only, i.e., you can sort the elements on the basis of single data member only. For example, it may be </a:t>
            </a:r>
            <a:r>
              <a:rPr lang="en-US" dirty="0" err="1"/>
              <a:t>rollno</a:t>
            </a:r>
            <a:r>
              <a:rPr lang="en-US" dirty="0"/>
              <a:t>, name, age or anything else. </a:t>
            </a:r>
          </a:p>
        </p:txBody>
      </p:sp>
    </p:spTree>
    <p:extLst>
      <p:ext uri="{BB962C8B-B14F-4D97-AF65-F5344CB8AC3E}">
        <p14:creationId xmlns:p14="http://schemas.microsoft.com/office/powerpoint/2010/main" val="11154906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err="1"/>
              <a:t>compareTo</a:t>
            </a:r>
            <a:r>
              <a:rPr lang="en-US" b="1" dirty="0"/>
              <a:t>(Object obj) method</a:t>
            </a:r>
          </a:p>
          <a:p>
            <a:r>
              <a:rPr lang="en-US" dirty="0"/>
              <a:t>public int </a:t>
            </a:r>
            <a:r>
              <a:rPr lang="en-US" b="1" dirty="0" err="1"/>
              <a:t>compareTo</a:t>
            </a:r>
            <a:r>
              <a:rPr lang="en-US" dirty="0"/>
              <a:t>(Object obj): It is used to compare the current object with the specified object. It returns</a:t>
            </a:r>
          </a:p>
          <a:p>
            <a:r>
              <a:rPr lang="en-US" dirty="0"/>
              <a:t>    </a:t>
            </a:r>
            <a:r>
              <a:rPr lang="en-US" b="1" dirty="0"/>
              <a:t>positive integer</a:t>
            </a:r>
            <a:r>
              <a:rPr lang="en-US" dirty="0"/>
              <a:t>, if the current object is greater than the specified object.</a:t>
            </a:r>
          </a:p>
          <a:p>
            <a:r>
              <a:rPr lang="en-US" dirty="0"/>
              <a:t>    </a:t>
            </a:r>
            <a:r>
              <a:rPr lang="en-US" b="1" dirty="0"/>
              <a:t>negative integer</a:t>
            </a:r>
            <a:r>
              <a:rPr lang="en-US" dirty="0"/>
              <a:t>, if the current object is less than the specified object.</a:t>
            </a:r>
          </a:p>
          <a:p>
            <a:r>
              <a:rPr lang="en-US" dirty="0"/>
              <a:t>    </a:t>
            </a:r>
            <a:r>
              <a:rPr lang="en-US" b="1" dirty="0"/>
              <a:t>zero</a:t>
            </a:r>
            <a:r>
              <a:rPr lang="en-US" dirty="0"/>
              <a:t>, if the current object is equal to the specified object.</a:t>
            </a:r>
          </a:p>
          <a:p>
            <a:r>
              <a:rPr lang="en-US" dirty="0"/>
              <a:t>We can sort the elements of:</a:t>
            </a:r>
          </a:p>
          <a:p>
            <a:r>
              <a:rPr lang="en-US" dirty="0"/>
              <a:t>    String objects</a:t>
            </a:r>
          </a:p>
          <a:p>
            <a:r>
              <a:rPr lang="en-US" dirty="0"/>
              <a:t>    Wrapper class objects</a:t>
            </a:r>
          </a:p>
          <a:p>
            <a:r>
              <a:rPr lang="en-US" dirty="0"/>
              <a:t>    User-defined class objects</a:t>
            </a:r>
          </a:p>
          <a:p>
            <a:r>
              <a:rPr lang="en-US" b="1" dirty="0"/>
              <a:t>Collections class</a:t>
            </a:r>
          </a:p>
          <a:p>
            <a:r>
              <a:rPr lang="en-US" dirty="0"/>
              <a:t>	Collections class provides static methods for sorting the elements of collections. If collection elements are of Set or Map, we can use </a:t>
            </a:r>
            <a:r>
              <a:rPr lang="en-US" dirty="0" err="1"/>
              <a:t>TreeSet</a:t>
            </a:r>
            <a:r>
              <a:rPr lang="en-US" dirty="0"/>
              <a:t> or </a:t>
            </a:r>
            <a:r>
              <a:rPr lang="en-US" dirty="0" err="1"/>
              <a:t>TreeMap</a:t>
            </a:r>
            <a:r>
              <a:rPr lang="en-US" dirty="0"/>
              <a:t>. However, we cannot sort the elements of List. Collections class provides methods for sorting the elements of List type elements.</a:t>
            </a:r>
          </a:p>
          <a:p>
            <a:endParaRPr lang="en-US" dirty="0"/>
          </a:p>
        </p:txBody>
      </p:sp>
    </p:spTree>
    <p:extLst>
      <p:ext uri="{BB962C8B-B14F-4D97-AF65-F5344CB8AC3E}">
        <p14:creationId xmlns:p14="http://schemas.microsoft.com/office/powerpoint/2010/main" val="32749350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5253134"/>
          </a:xfrm>
        </p:spPr>
        <p:txBody>
          <a:bodyPr>
            <a:normAutofit fontScale="77500" lnSpcReduction="20000"/>
          </a:bodyPr>
          <a:lstStyle/>
          <a:p>
            <a:r>
              <a:rPr lang="en-US" dirty="0"/>
              <a:t>public void sort(List list): It is used to sort the elements of List. List elements must be of the Comparable type.</a:t>
            </a:r>
          </a:p>
          <a:p>
            <a:r>
              <a:rPr lang="en-US" dirty="0"/>
              <a:t> class Student implements Comparable&lt;Student&gt;{  </a:t>
            </a:r>
          </a:p>
          <a:p>
            <a:r>
              <a:rPr lang="en-US" dirty="0"/>
              <a:t>    int </a:t>
            </a:r>
            <a:r>
              <a:rPr lang="en-US" dirty="0" err="1"/>
              <a:t>rollno</a:t>
            </a:r>
            <a:r>
              <a:rPr lang="en-US" dirty="0"/>
              <a:t>;  </a:t>
            </a:r>
          </a:p>
          <a:p>
            <a:r>
              <a:rPr lang="en-US" dirty="0"/>
              <a:t>    String name;  </a:t>
            </a:r>
          </a:p>
          <a:p>
            <a:r>
              <a:rPr lang="en-US" dirty="0"/>
              <a:t>    int age;  </a:t>
            </a:r>
          </a:p>
          <a:p>
            <a:r>
              <a:rPr lang="en-US" dirty="0"/>
              <a:t>    Student(int </a:t>
            </a:r>
            <a:r>
              <a:rPr lang="en-US" dirty="0" err="1"/>
              <a:t>rollno,String</a:t>
            </a:r>
            <a:r>
              <a:rPr lang="en-US" dirty="0"/>
              <a:t> </a:t>
            </a:r>
            <a:r>
              <a:rPr lang="en-US" dirty="0" err="1"/>
              <a:t>name,int</a:t>
            </a:r>
            <a:r>
              <a:rPr lang="en-US" dirty="0"/>
              <a:t> age){  </a:t>
            </a:r>
          </a:p>
          <a:p>
            <a:r>
              <a:rPr lang="en-US" dirty="0"/>
              <a:t>    </a:t>
            </a:r>
            <a:r>
              <a:rPr lang="en-US" dirty="0" err="1"/>
              <a:t>this.rollno</a:t>
            </a:r>
            <a:r>
              <a:rPr lang="en-US" dirty="0"/>
              <a:t>=</a:t>
            </a:r>
            <a:r>
              <a:rPr lang="en-US" dirty="0" err="1"/>
              <a:t>rollno</a:t>
            </a:r>
            <a:r>
              <a:rPr lang="en-US" dirty="0"/>
              <a:t>;  </a:t>
            </a:r>
          </a:p>
          <a:p>
            <a:r>
              <a:rPr lang="en-US" dirty="0"/>
              <a:t>    this.name=name;  </a:t>
            </a:r>
          </a:p>
          <a:p>
            <a:r>
              <a:rPr lang="en-US" dirty="0"/>
              <a:t>    </a:t>
            </a:r>
            <a:r>
              <a:rPr lang="en-US" dirty="0" err="1"/>
              <a:t>this.age</a:t>
            </a:r>
            <a:r>
              <a:rPr lang="en-US" dirty="0"/>
              <a:t>=age;  </a:t>
            </a:r>
          </a:p>
          <a:p>
            <a:r>
              <a:rPr lang="en-US" dirty="0"/>
              <a:t>    }        </a:t>
            </a:r>
          </a:p>
          <a:p>
            <a:r>
              <a:rPr lang="en-US" dirty="0"/>
              <a:t>    public int </a:t>
            </a:r>
            <a:r>
              <a:rPr lang="en-US" dirty="0" err="1"/>
              <a:t>compareTo</a:t>
            </a:r>
            <a:r>
              <a:rPr lang="en-US" dirty="0"/>
              <a:t>(Student </a:t>
            </a:r>
            <a:r>
              <a:rPr lang="en-US" dirty="0" err="1"/>
              <a:t>st</a:t>
            </a:r>
            <a:r>
              <a:rPr lang="en-US" dirty="0"/>
              <a:t>){  </a:t>
            </a:r>
          </a:p>
          <a:p>
            <a:r>
              <a:rPr lang="en-US" dirty="0"/>
              <a:t>    if(age==</a:t>
            </a:r>
            <a:r>
              <a:rPr lang="en-US" dirty="0" err="1"/>
              <a:t>st.age</a:t>
            </a:r>
            <a:r>
              <a:rPr lang="en-US" dirty="0"/>
              <a:t>)  </a:t>
            </a:r>
          </a:p>
          <a:p>
            <a:r>
              <a:rPr lang="en-US" dirty="0"/>
              <a:t>    return 0;  </a:t>
            </a:r>
          </a:p>
          <a:p>
            <a:r>
              <a:rPr lang="en-US" dirty="0"/>
              <a:t>    else if(age&gt;</a:t>
            </a:r>
            <a:r>
              <a:rPr lang="en-US" dirty="0" err="1"/>
              <a:t>st.age</a:t>
            </a:r>
            <a:r>
              <a:rPr lang="en-US" dirty="0"/>
              <a:t>)  </a:t>
            </a:r>
          </a:p>
          <a:p>
            <a:r>
              <a:rPr lang="en-US" dirty="0"/>
              <a:t>    return 1;  </a:t>
            </a:r>
          </a:p>
          <a:p>
            <a:r>
              <a:rPr lang="en-US" dirty="0"/>
              <a:t>    else  </a:t>
            </a:r>
          </a:p>
          <a:p>
            <a:r>
              <a:rPr lang="en-US" dirty="0"/>
              <a:t>    return -1;  </a:t>
            </a:r>
          </a:p>
          <a:p>
            <a:r>
              <a:rPr lang="en-US" dirty="0"/>
              <a:t>    }  </a:t>
            </a:r>
          </a:p>
          <a:p>
            <a:r>
              <a:rPr lang="en-US" dirty="0"/>
              <a:t>    } </a:t>
            </a:r>
          </a:p>
        </p:txBody>
      </p:sp>
    </p:spTree>
    <p:extLst>
      <p:ext uri="{BB962C8B-B14F-4D97-AF65-F5344CB8AC3E}">
        <p14:creationId xmlns:p14="http://schemas.microsoft.com/office/powerpoint/2010/main" val="2812199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b="1" dirty="0"/>
              <a:t>Java Comparator interface</a:t>
            </a:r>
          </a:p>
          <a:p>
            <a:r>
              <a:rPr lang="en-US" dirty="0"/>
              <a:t>	Java Comparator interface is used to order the objects of a user-defined class.</a:t>
            </a:r>
          </a:p>
          <a:p>
            <a:r>
              <a:rPr lang="en-US" dirty="0"/>
              <a:t>	This interface is found in </a:t>
            </a:r>
            <a:r>
              <a:rPr lang="en-US" b="1" dirty="0" err="1"/>
              <a:t>java.util</a:t>
            </a:r>
            <a:r>
              <a:rPr lang="en-US" b="1" dirty="0"/>
              <a:t> </a:t>
            </a:r>
            <a:r>
              <a:rPr lang="en-US" dirty="0"/>
              <a:t>package and contains </a:t>
            </a:r>
            <a:r>
              <a:rPr lang="en-US" b="1" dirty="0"/>
              <a:t>2 methods compare(Object obj1,Object obj2) and equals(Object element).</a:t>
            </a:r>
          </a:p>
          <a:p>
            <a:r>
              <a:rPr lang="en-US" dirty="0"/>
              <a:t>	It provides multiple sorting sequences, i.e., you can sort the elements on the basis of any data member, for example, </a:t>
            </a:r>
            <a:r>
              <a:rPr lang="en-US" dirty="0" err="1"/>
              <a:t>rollno</a:t>
            </a:r>
            <a:r>
              <a:rPr lang="en-US" dirty="0"/>
              <a:t>, name, age or anything else.</a:t>
            </a:r>
          </a:p>
          <a:p>
            <a:endParaRPr lang="en-US" dirty="0"/>
          </a:p>
        </p:txBody>
      </p:sp>
      <p:graphicFrame>
        <p:nvGraphicFramePr>
          <p:cNvPr id="2" name="Table 1">
            <a:extLst>
              <a:ext uri="{FF2B5EF4-FFF2-40B4-BE49-F238E27FC236}">
                <a16:creationId xmlns:a16="http://schemas.microsoft.com/office/drawing/2014/main" id="{D38AC25A-7D3F-4606-9FE7-DAF8243DE93E}"/>
              </a:ext>
            </a:extLst>
          </p:cNvPr>
          <p:cNvGraphicFramePr>
            <a:graphicFrameLocks noGrp="1"/>
          </p:cNvGraphicFramePr>
          <p:nvPr>
            <p:extLst>
              <p:ext uri="{D42A27DB-BD31-4B8C-83A1-F6EECF244321}">
                <p14:modId xmlns:p14="http://schemas.microsoft.com/office/powerpoint/2010/main" val="3328893408"/>
              </p:ext>
            </p:extLst>
          </p:nvPr>
        </p:nvGraphicFramePr>
        <p:xfrm>
          <a:off x="1435100" y="3713584"/>
          <a:ext cx="9918700" cy="2458618"/>
        </p:xfrm>
        <a:graphic>
          <a:graphicData uri="http://schemas.openxmlformats.org/drawingml/2006/table">
            <a:tbl>
              <a:tblPr/>
              <a:tblGrid>
                <a:gridCol w="4959350">
                  <a:extLst>
                    <a:ext uri="{9D8B030D-6E8A-4147-A177-3AD203B41FA5}">
                      <a16:colId xmlns:a16="http://schemas.microsoft.com/office/drawing/2014/main" val="1374835739"/>
                    </a:ext>
                  </a:extLst>
                </a:gridCol>
                <a:gridCol w="4959350">
                  <a:extLst>
                    <a:ext uri="{9D8B030D-6E8A-4147-A177-3AD203B41FA5}">
                      <a16:colId xmlns:a16="http://schemas.microsoft.com/office/drawing/2014/main" val="2632223784"/>
                    </a:ext>
                  </a:extLst>
                </a:gridCol>
              </a:tblGrid>
              <a:tr h="393379">
                <a:tc>
                  <a:txBody>
                    <a:bodyPr/>
                    <a:lstStyle/>
                    <a:p>
                      <a:r>
                        <a:rPr lang="en-US"/>
                        <a:t>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Description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00328403"/>
                  </a:ext>
                </a:extLst>
              </a:tr>
              <a:tr h="688413">
                <a:tc>
                  <a:txBody>
                    <a:bodyPr/>
                    <a:lstStyle/>
                    <a:p>
                      <a:r>
                        <a:rPr lang="en-US"/>
                        <a:t>public int compare(Object obj1, Object obj2)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It compares the first object with the second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27792377"/>
                  </a:ext>
                </a:extLst>
              </a:tr>
              <a:tr h="688413">
                <a:tc>
                  <a:txBody>
                    <a:bodyPr/>
                    <a:lstStyle/>
                    <a:p>
                      <a:r>
                        <a:rPr lang="en-US"/>
                        <a:t>public boolean equals(Object obj)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It is used to compare the current object with the specified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4982247"/>
                  </a:ext>
                </a:extLst>
              </a:tr>
              <a:tr h="688413">
                <a:tc>
                  <a:txBody>
                    <a:bodyPr/>
                    <a:lstStyle/>
                    <a:p>
                      <a:r>
                        <a:rPr lang="en-US"/>
                        <a:t>public boolean equals(Object obj)</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It is used to compare the current object with the specified 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6847237"/>
                  </a:ext>
                </a:extLst>
              </a:tr>
            </a:tbl>
          </a:graphicData>
        </a:graphic>
      </p:graphicFrame>
    </p:spTree>
    <p:extLst>
      <p:ext uri="{BB962C8B-B14F-4D97-AF65-F5344CB8AC3E}">
        <p14:creationId xmlns:p14="http://schemas.microsoft.com/office/powerpoint/2010/main" val="4585059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64C0E11-7DE4-D558-C3EF-9B3C7A9BF17D}"/>
              </a:ext>
            </a:extLst>
          </p:cNvPr>
          <p:cNvSpPr>
            <a:spLocks noGrp="1"/>
          </p:cNvSpPr>
          <p:nvPr>
            <p:ph type="title"/>
          </p:nvPr>
        </p:nvSpPr>
        <p:spPr>
          <a:xfrm>
            <a:off x="1280160" y="685800"/>
            <a:ext cx="9137012" cy="704461"/>
          </a:xfrm>
        </p:spPr>
        <p:txBody>
          <a:bodyPr anchor="b">
            <a:normAutofit/>
          </a:bodyPr>
          <a:lstStyle/>
          <a:p>
            <a:r>
              <a:rPr lang="en-US" dirty="0"/>
              <a:t>Collections</a:t>
            </a:r>
          </a:p>
        </p:txBody>
      </p:sp>
      <p:sp>
        <p:nvSpPr>
          <p:cNvPr id="3" name="Content Placeholder 2">
            <a:extLst>
              <a:ext uri="{FF2B5EF4-FFF2-40B4-BE49-F238E27FC236}">
                <a16:creationId xmlns:a16="http://schemas.microsoft.com/office/drawing/2014/main" id="{D4418541-7290-F1A9-2357-CA26E074EF45}"/>
              </a:ext>
            </a:extLst>
          </p:cNvPr>
          <p:cNvSpPr>
            <a:spLocks noGrp="1"/>
          </p:cNvSpPr>
          <p:nvPr>
            <p:ph sz="half" idx="2"/>
          </p:nvPr>
        </p:nvSpPr>
        <p:spPr>
          <a:xfrm>
            <a:off x="1045029" y="1502229"/>
            <a:ext cx="10936440" cy="4865785"/>
          </a:xfrm>
        </p:spPr>
        <p:txBody>
          <a:bodyPr>
            <a:normAutofit/>
          </a:bodyPr>
          <a:lstStyle/>
          <a:p>
            <a:r>
              <a:rPr lang="en-US" dirty="0"/>
              <a:t>	@Override</a:t>
            </a:r>
          </a:p>
          <a:p>
            <a:r>
              <a:rPr lang="en-US" dirty="0"/>
              <a:t>	public int compare(Object o1, Object o2) {</a:t>
            </a:r>
          </a:p>
          <a:p>
            <a:endParaRPr lang="en-US" dirty="0"/>
          </a:p>
          <a:p>
            <a:r>
              <a:rPr lang="en-US" dirty="0"/>
              <a:t>		Student student1 = (Student) o1;</a:t>
            </a:r>
          </a:p>
          <a:p>
            <a:r>
              <a:rPr lang="en-US" dirty="0"/>
              <a:t>		Student student2 = (Student) o2;</a:t>
            </a:r>
          </a:p>
          <a:p>
            <a:endParaRPr lang="en-US" dirty="0"/>
          </a:p>
          <a:p>
            <a:r>
              <a:rPr lang="en-US" dirty="0"/>
              <a:t>		return student1.getName().</a:t>
            </a:r>
            <a:r>
              <a:rPr lang="en-US" dirty="0" err="1"/>
              <a:t>compareTo</a:t>
            </a:r>
            <a:r>
              <a:rPr lang="en-US" dirty="0"/>
              <a:t>(student2.getName());</a:t>
            </a:r>
          </a:p>
          <a:p>
            <a:r>
              <a:rPr lang="en-US" dirty="0"/>
              <a:t>	}</a:t>
            </a:r>
          </a:p>
          <a:p>
            <a:r>
              <a:rPr lang="en-US" dirty="0"/>
              <a:t>	//call sort method</a:t>
            </a:r>
          </a:p>
          <a:p>
            <a:r>
              <a:rPr lang="en-US" dirty="0"/>
              <a:t>	</a:t>
            </a:r>
            <a:r>
              <a:rPr lang="en-US" dirty="0" err="1"/>
              <a:t>Collections.sort</a:t>
            </a:r>
            <a:r>
              <a:rPr lang="en-US" dirty="0"/>
              <a:t>(</a:t>
            </a:r>
            <a:r>
              <a:rPr lang="en-US" dirty="0" err="1"/>
              <a:t>list,new</a:t>
            </a:r>
            <a:r>
              <a:rPr lang="en-US" dirty="0"/>
              <a:t> </a:t>
            </a:r>
            <a:r>
              <a:rPr lang="en-US" dirty="0" err="1"/>
              <a:t>NameComprator</a:t>
            </a:r>
            <a:r>
              <a:rPr lang="en-US" dirty="0"/>
              <a:t>());</a:t>
            </a:r>
          </a:p>
        </p:txBody>
      </p:sp>
    </p:spTree>
    <p:extLst>
      <p:ext uri="{BB962C8B-B14F-4D97-AF65-F5344CB8AC3E}">
        <p14:creationId xmlns:p14="http://schemas.microsoft.com/office/powerpoint/2010/main" val="40989099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5D893-E98A-260A-9EC4-B9365E533FD5}"/>
              </a:ext>
            </a:extLst>
          </p:cNvPr>
          <p:cNvSpPr>
            <a:spLocks noGrp="1"/>
          </p:cNvSpPr>
          <p:nvPr>
            <p:ph type="title"/>
          </p:nvPr>
        </p:nvSpPr>
        <p:spPr>
          <a:xfrm>
            <a:off x="2792897" y="585216"/>
            <a:ext cx="8965094" cy="2276856"/>
          </a:xfrm>
        </p:spPr>
        <p:txBody>
          <a:bodyPr/>
          <a:lstStyle/>
          <a:p>
            <a:r>
              <a:rPr lang="en-US" dirty="0"/>
              <a:t>Thank you</a:t>
            </a:r>
          </a:p>
        </p:txBody>
      </p:sp>
      <p:pic>
        <p:nvPicPr>
          <p:cNvPr id="5" name="Picture Placeholder 14" descr="Mountains under near dusk sky">
            <a:extLst>
              <a:ext uri="{FF2B5EF4-FFF2-40B4-BE49-F238E27FC236}">
                <a16:creationId xmlns:a16="http://schemas.microsoft.com/office/drawing/2014/main" id="{DE72DC91-8DC9-B68C-C1D3-8F5273481A74}"/>
              </a:ext>
            </a:extLst>
          </p:cNvPr>
          <p:cNvPicPr>
            <a:picLocks noGrp="1" noChangeAspect="1"/>
          </p:cNvPicPr>
          <p:nvPr>
            <p:ph type="pic" sz="quarter" idx="14"/>
          </p:nvPr>
        </p:nvPicPr>
        <p:blipFill rotWithShape="1">
          <a:blip r:embed="rId3"/>
          <a:srcRect l="13191" r="13191"/>
          <a:stretch/>
        </p:blipFill>
        <p:spPr>
          <a:xfrm>
            <a:off x="1371606" y="3205313"/>
            <a:ext cx="3043077" cy="3043083"/>
          </a:xfrm>
        </p:spPr>
      </p:pic>
      <p:sp>
        <p:nvSpPr>
          <p:cNvPr id="3" name="Text Placeholder 2">
            <a:extLst>
              <a:ext uri="{FF2B5EF4-FFF2-40B4-BE49-F238E27FC236}">
                <a16:creationId xmlns:a16="http://schemas.microsoft.com/office/drawing/2014/main" id="{FD70D88C-5989-4007-4953-F54A4A34B778}"/>
              </a:ext>
            </a:extLst>
          </p:cNvPr>
          <p:cNvSpPr>
            <a:spLocks noGrp="1"/>
          </p:cNvSpPr>
          <p:nvPr>
            <p:ph type="body" sz="quarter" idx="13"/>
          </p:nvPr>
        </p:nvSpPr>
        <p:spPr>
          <a:xfrm>
            <a:off x="5640609" y="3127248"/>
            <a:ext cx="6117381" cy="3017520"/>
          </a:xfrm>
        </p:spPr>
        <p:txBody>
          <a:bodyPr/>
          <a:lstStyle/>
          <a:p>
            <a:endParaRPr lang="en-US" dirty="0"/>
          </a:p>
          <a:p>
            <a:endParaRPr lang="en-US" dirty="0"/>
          </a:p>
        </p:txBody>
      </p:sp>
    </p:spTree>
    <p:extLst>
      <p:ext uri="{BB962C8B-B14F-4D97-AF65-F5344CB8AC3E}">
        <p14:creationId xmlns:p14="http://schemas.microsoft.com/office/powerpoint/2010/main" val="4273949180"/>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2.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{0A98DBC9-A326-4D2A-9C05-4BD5BD40E331}tf89338750_win32</Template>
  <TotalTime>586</TotalTime>
  <Words>5572</Words>
  <Application>Microsoft Office PowerPoint</Application>
  <PresentationFormat>Widescreen</PresentationFormat>
  <Paragraphs>491</Paragraphs>
  <Slides>45</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45</vt:i4>
      </vt:variant>
    </vt:vector>
  </HeadingPairs>
  <TitlesOfParts>
    <vt:vector size="50" baseType="lpstr">
      <vt:lpstr>Arial Unicode MS</vt:lpstr>
      <vt:lpstr>Arial</vt:lpstr>
      <vt:lpstr>Calibri</vt:lpstr>
      <vt:lpstr>Univers</vt:lpstr>
      <vt:lpstr>GradientVTI</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Collections</vt:lpstr>
      <vt:lpstr>Wrapper Classes</vt:lpstr>
      <vt:lpstr>Collections</vt:lpstr>
      <vt:lpstr>Collections</vt:lpstr>
      <vt:lpstr>Collections</vt:lpstr>
      <vt:lpstr>Collections</vt:lpstr>
      <vt:lpstr>Collections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Collections</dc:title>
  <dc:creator>Ramisetty, Manikanta</dc:creator>
  <cp:lastModifiedBy>Ramisetty, Manikanta</cp:lastModifiedBy>
  <cp:revision>172</cp:revision>
  <dcterms:created xsi:type="dcterms:W3CDTF">2024-06-06T04:36:40Z</dcterms:created>
  <dcterms:modified xsi:type="dcterms:W3CDTF">2024-06-09T15:40:27Z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